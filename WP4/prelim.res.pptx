
<file path=[Content_Types].xml><?xml version="1.0" encoding="utf-8"?>
<Types xmlns="http://schemas.openxmlformats.org/package/2006/content-types">
  <Default Extension="all" ContentType="image/pn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5" r:id="rId10"/>
    <p:sldId id="266" r:id="rId11"/>
    <p:sldId id="263" r:id="rId1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341" autoAdjust="0"/>
    <p:restoredTop sz="94660"/>
  </p:normalViewPr>
  <p:slideViewPr>
    <p:cSldViewPr snapToGrid="0">
      <p:cViewPr>
        <p:scale>
          <a:sx n="80" d="100"/>
          <a:sy n="80" d="100"/>
        </p:scale>
        <p:origin x="848" y="19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1D2F6-6D98-36D4-B4AE-AC5603F231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426FC-C15A-8944-B4C1-FA8FFD2234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B1AEF-EFB6-2A55-0C3C-018C4C2A1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05-10-2022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EA636-68E9-4B68-A04B-EC9521FD5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7F6C1-8182-8DBC-993D-82637407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80567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ACDB2-C928-A485-49FF-AE8F8C9B0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B45CF-F7E7-F96C-0EDE-3A244E275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980FD-D6E7-C901-4C80-512D89A3F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05-10-2022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84DB30-A90D-B6EC-F3BF-2D138F84C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1969-08AE-E8D0-1E21-0848E2124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2261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2AEF6-7D42-1BA5-2889-723C40045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2271E8-5488-B6B1-60A1-CEFB2BA7BA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6018B-24DA-6D1F-EEC6-2066F618D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05-10-2022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DF1A0-3C47-27E8-B468-B2D840D8B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0330E-F199-C7AB-E89D-347C3A395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22446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20C1A-4E3B-A2C7-BA73-48C68D156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7C8340-79CC-F814-1FB0-A5AAB2846E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F9933-7A97-BE5A-6185-5689502A65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5A0814-6F21-D537-078F-47F37CF26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05-10-2022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32DCE0-2DC5-E6B4-75DC-3C5740CFE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6C113-CF50-3501-24CC-818D19D8A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58537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AD639-8E27-58E6-6534-127927463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2E6E9-FEB0-D649-C8C5-E96B1DDB51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14B433-DA3A-F380-7E63-3C7E23DDCA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5D973-E8CB-DB09-9AC0-2CECD3FF51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EA8AA-31D1-BF12-BE80-1380C2C0A1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A058AD-B9C7-C95A-EE14-9BE1B2ACB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05-10-2022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0FFF52-026C-C723-7400-D3D9FDDD4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973B93-377F-C44A-9295-2E2922D1F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87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96007-CAB5-801A-CB5D-B1CE701D9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212083-BCBD-A106-7A9D-E81583E78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05-10-2022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6ED8E6-044A-7162-650C-5C08F25D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9877F8-83D0-224C-A9DD-5BCEBB0E4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66896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812DB9-83A5-8BA4-F19F-75221EACF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05-10-2022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140EBC-7B8F-81E9-5D6D-911759447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DDC2C-2478-72A2-6900-DCD6D389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37815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8E3F2-38E3-30D8-2113-EC621E462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7ECDD-CF38-0826-B1E9-B6E46F23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06A8F9-0A1E-93A4-C8E5-0755AC7BE4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FFA824-443D-956E-C682-4CBF904CF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05-10-2022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6FEF79-EB9A-3FDC-15D4-A2B4F0315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8BC1DD-C287-B432-7A8B-C47963806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14332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F33A7-C8AD-6091-627C-7836C25BA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5FD42D-1A04-5B66-91BA-BFC3ED860E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79F470-2BA2-2B58-225B-C9B6DD215D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12734F-249A-ECA1-F746-9DF8AC609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05-10-2022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D0456B-F4B5-0590-E3FA-FE1DD5CEB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B601A-88A0-8DB3-1B2B-5916FC757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1568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11375-5E56-AB83-CC12-5D18ECDE0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FBBB5-0202-1BD9-EF72-461B2AD47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9C585-FA32-03D3-5D1D-FC5829F43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05-10-2022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9ED811-91F7-CE65-39BE-82C41B678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1D444-70E6-B98F-CABE-965F9054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30796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BBCB21-1E97-BDE8-7DA0-CBA698867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F9C700-EAE6-F6F2-D086-50B095C798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068E8-DF23-6D42-F224-CFD24282E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05-10-2022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EB364-FECD-EE04-4302-83ABD25A8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3776D-8EC0-D051-B037-2902764EB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61080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C0A0BC-76D1-D1DF-7E2B-79B9628CC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5CE74-9B10-E15A-30F1-EB71474CF0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5185B6-7CEF-5F34-5370-3330C092BA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EFA994-F2DF-48DF-AC6C-D99B8D21D338}" type="datetimeFigureOut">
              <a:rPr lang="da-DK" smtClean="0"/>
              <a:t>05-10-2022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1DF5F-FDEE-CA7A-6A85-661935E52A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2F7D5-585B-3913-6B7B-FA701095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52762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al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69928B-080C-3855-29D6-AB8AFEEB4B19}"/>
              </a:ext>
            </a:extLst>
          </p:cNvPr>
          <p:cNvSpPr txBox="1"/>
          <p:nvPr/>
        </p:nvSpPr>
        <p:spPr>
          <a:xfrm>
            <a:off x="349513" y="346118"/>
            <a:ext cx="4657726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Resulted</a:t>
            </a:r>
            <a:r>
              <a:rPr lang="da-DK" sz="1200" dirty="0">
                <a:sym typeface="Wingdings" panose="05000000000000000000" pitchFamily="2" charset="2"/>
              </a:rPr>
              <a:t> in 24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6 decisions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2 </a:t>
            </a:r>
            <a:r>
              <a:rPr lang="da-DK" sz="1200" dirty="0" err="1">
                <a:sym typeface="Wingdings" panose="05000000000000000000" pitchFamily="2" charset="2"/>
              </a:rPr>
              <a:t>directives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 opinions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 </a:t>
            </a:r>
            <a:r>
              <a:rPr lang="da-DK" sz="1200" dirty="0" err="1">
                <a:sym typeface="Wingdings" panose="05000000000000000000" pitchFamily="2" charset="2"/>
              </a:rPr>
              <a:t>recomendation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7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19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another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208 </a:t>
            </a:r>
            <a:r>
              <a:rPr lang="da-DK" sz="1200" dirty="0" err="1">
                <a:sym typeface="Wingdings" panose="05000000000000000000" pitchFamily="2" charset="2"/>
              </a:rPr>
              <a:t>distinct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citations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b="1" dirty="0" err="1">
                <a:sym typeface="Wingdings" panose="05000000000000000000" pitchFamily="2" charset="2"/>
              </a:rPr>
              <a:t>Within</a:t>
            </a:r>
            <a:r>
              <a:rPr lang="da-DK" sz="1200" b="1" dirty="0">
                <a:sym typeface="Wingdings" panose="05000000000000000000" pitchFamily="2" charset="2"/>
              </a:rPr>
              <a:t> the </a:t>
            </a:r>
            <a:r>
              <a:rPr lang="da-DK" sz="1200" b="1" dirty="0" err="1">
                <a:sym typeface="Wingdings" panose="05000000000000000000" pitchFamily="2" charset="2"/>
              </a:rPr>
              <a:t>network</a:t>
            </a:r>
            <a:r>
              <a:rPr lang="da-DK" sz="1200" b="1" dirty="0">
                <a:sym typeface="Wingdings" panose="05000000000000000000" pitchFamily="2" charset="2"/>
              </a:rPr>
              <a:t> plot: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When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</a:t>
            </a:r>
            <a:r>
              <a:rPr lang="da-DK" sz="1200" dirty="0">
                <a:sym typeface="Wingdings" panose="05000000000000000000" pitchFamily="2" charset="2"/>
              </a:rPr>
              <a:t> filter for citations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legeslation</a:t>
            </a:r>
            <a:r>
              <a:rPr lang="da-DK" sz="1200" dirty="0">
                <a:sym typeface="Wingdings" panose="05000000000000000000" pitchFamily="2" charset="2"/>
              </a:rPr>
              <a:t>…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17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legislation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134 out of the 208 citations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legislative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in the </a:t>
            </a:r>
            <a:r>
              <a:rPr lang="da-DK" sz="1200" dirty="0" err="1">
                <a:sym typeface="Wingdings" panose="05000000000000000000" pitchFamily="2" charset="2"/>
              </a:rPr>
              <a:t>search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also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cited</a:t>
            </a:r>
            <a:r>
              <a:rPr lang="da-DK" sz="1200" dirty="0">
                <a:sym typeface="Wingdings" panose="05000000000000000000" pitchFamily="2" charset="2"/>
              </a:rPr>
              <a:t> in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. </a:t>
            </a:r>
            <a:r>
              <a:rPr lang="da-DK" sz="1200" dirty="0" err="1">
                <a:sym typeface="Wingdings" panose="05000000000000000000" pitchFamily="2" charset="2"/>
              </a:rPr>
              <a:t>These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: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Marine </a:t>
            </a:r>
            <a:r>
              <a:rPr lang="da-DK" sz="1200" dirty="0" err="1">
                <a:sym typeface="Wingdings" panose="05000000000000000000" pitchFamily="2" charset="2"/>
              </a:rPr>
              <a:t>stratey</a:t>
            </a:r>
            <a:r>
              <a:rPr lang="da-DK" sz="1200" dirty="0">
                <a:sym typeface="Wingdings" panose="05000000000000000000" pitchFamily="2" charset="2"/>
              </a:rPr>
              <a:t> framework </a:t>
            </a:r>
            <a:r>
              <a:rPr lang="da-DK" sz="1200" dirty="0" err="1">
                <a:sym typeface="Wingdings" panose="05000000000000000000" pitchFamily="2" charset="2"/>
              </a:rPr>
              <a:t>directive</a:t>
            </a:r>
            <a:r>
              <a:rPr lang="da-DK" sz="1200" dirty="0">
                <a:sym typeface="Wingdings" panose="05000000000000000000" pitchFamily="2" charset="2"/>
              </a:rPr>
              <a:t> (32008L0056)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CFP </a:t>
            </a:r>
            <a:r>
              <a:rPr lang="da-DK" sz="1200" dirty="0" err="1">
                <a:sym typeface="Wingdings" panose="05000000000000000000" pitchFamily="2" charset="2"/>
              </a:rPr>
              <a:t>amending</a:t>
            </a:r>
            <a:r>
              <a:rPr lang="da-DK" sz="1200" dirty="0">
                <a:sym typeface="Wingdings" panose="05000000000000000000" pitchFamily="2" charset="2"/>
              </a:rPr>
              <a:t> Council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(32013R1380)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European maritime and </a:t>
            </a:r>
            <a:r>
              <a:rPr lang="da-DK" sz="1200" dirty="0" err="1">
                <a:sym typeface="Wingdings" panose="05000000000000000000" pitchFamily="2" charset="2"/>
              </a:rPr>
              <a:t>fisheries</a:t>
            </a:r>
            <a:r>
              <a:rPr lang="da-DK" sz="1200" dirty="0">
                <a:sym typeface="Wingdings" panose="05000000000000000000" pitchFamily="2" charset="2"/>
              </a:rPr>
              <a:t> fund and </a:t>
            </a:r>
            <a:r>
              <a:rPr lang="da-DK" sz="1200" dirty="0" err="1">
                <a:sym typeface="Wingdings" panose="05000000000000000000" pitchFamily="2" charset="2"/>
              </a:rPr>
              <a:t>repealing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council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. (32014R0508)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Opinion on EU policy for the </a:t>
            </a:r>
            <a:r>
              <a:rPr lang="da-DK" sz="1200" dirty="0" err="1">
                <a:sym typeface="Wingdings" panose="05000000000000000000" pitchFamily="2" charset="2"/>
              </a:rPr>
              <a:t>Arctic</a:t>
            </a:r>
            <a:r>
              <a:rPr lang="da-DK" sz="1200" dirty="0">
                <a:sym typeface="Wingdings" panose="05000000000000000000" pitchFamily="2" charset="2"/>
              </a:rPr>
              <a:t> (52016AE4426)</a:t>
            </a:r>
          </a:p>
          <a:p>
            <a:endParaRPr lang="da-DK" sz="1200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 Total:</a:t>
            </a:r>
          </a:p>
          <a:p>
            <a:r>
              <a:rPr lang="da-DK" sz="1200" dirty="0">
                <a:sym typeface="Wingdings" panose="05000000000000000000" pitchFamily="2" charset="2"/>
              </a:rPr>
              <a:t>       148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       498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3" name="Picture 2" descr="Chart, scatter chart&#10;&#10;Description automatically generated">
            <a:extLst>
              <a:ext uri="{FF2B5EF4-FFF2-40B4-BE49-F238E27FC236}">
                <a16:creationId xmlns:a16="http://schemas.microsoft.com/office/drawing/2014/main" id="{AF58B23E-ABB2-2795-22C5-ACD2DDB933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9577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852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A2C5E-11D1-B3CB-C11E-34C8583E9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06413" y="657225"/>
            <a:ext cx="4579937" cy="3811588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00000"/>
              </a:lnSpc>
            </a:pPr>
            <a:r>
              <a:rPr lang="da-DK" sz="1700" b="1" dirty="0"/>
              <a:t>First EUR-Lex </a:t>
            </a:r>
            <a:r>
              <a:rPr lang="da-DK" sz="1700" b="1" dirty="0" err="1"/>
              <a:t>search</a:t>
            </a:r>
            <a:r>
              <a:rPr lang="da-DK" sz="1700" b="1" dirty="0"/>
              <a:t> </a:t>
            </a:r>
            <a:r>
              <a:rPr lang="da-DK" sz="1700" b="1" dirty="0" err="1"/>
              <a:t>query</a:t>
            </a:r>
            <a:r>
              <a:rPr lang="da-DK" sz="1700" b="1" dirty="0"/>
              <a:t> ”marine </a:t>
            </a:r>
            <a:r>
              <a:rPr lang="da-DK" sz="1700" b="1" dirty="0" err="1"/>
              <a:t>protected</a:t>
            </a:r>
            <a:r>
              <a:rPr lang="da-DK" sz="1700" b="1" dirty="0"/>
              <a:t>”, </a:t>
            </a:r>
            <a:r>
              <a:rPr lang="da-DK" sz="1700" b="1" dirty="0" err="1"/>
              <a:t>exactly</a:t>
            </a:r>
            <a:r>
              <a:rPr lang="da-DK" sz="1700" b="1" dirty="0"/>
              <a:t>=TRUE</a:t>
            </a:r>
          </a:p>
          <a:p>
            <a:pPr>
              <a:lnSpc>
                <a:spcPct val="100000"/>
              </a:lnSpc>
            </a:pPr>
            <a:endParaRPr lang="da-DK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54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only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first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order</a:t>
            </a:r>
            <a:r>
              <a:rPr lang="da-DK" dirty="0">
                <a:sym typeface="Wingdings" panose="05000000000000000000" pitchFamily="2" charset="2"/>
              </a:rPr>
              <a:t> citations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435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</a:t>
            </a:r>
            <a:r>
              <a:rPr lang="da-DK" dirty="0" err="1"/>
              <a:t>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citations.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76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both</a:t>
            </a:r>
            <a:r>
              <a:rPr lang="da-DK" dirty="0"/>
              <a:t> </a:t>
            </a:r>
            <a:r>
              <a:rPr lang="da-DK" dirty="0" err="1"/>
              <a:t>first</a:t>
            </a:r>
            <a:r>
              <a:rPr lang="da-DK" dirty="0"/>
              <a:t> and </a:t>
            </a:r>
            <a:r>
              <a:rPr lang="da-DK" dirty="0" err="1"/>
              <a:t>second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citations. 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5 </a:t>
            </a:r>
            <a:r>
              <a:rPr lang="da-DK" dirty="0" err="1"/>
              <a:t>documents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both</a:t>
            </a:r>
            <a:r>
              <a:rPr lang="da-DK" dirty="0"/>
              <a:t> a </a:t>
            </a:r>
            <a:r>
              <a:rPr lang="da-DK" dirty="0" err="1"/>
              <a:t>result</a:t>
            </a:r>
            <a:r>
              <a:rPr lang="da-DK" dirty="0"/>
              <a:t> and at </a:t>
            </a:r>
            <a:r>
              <a:rPr lang="da-DK" dirty="0" err="1"/>
              <a:t>one</a:t>
            </a:r>
            <a:r>
              <a:rPr lang="da-DK" dirty="0"/>
              <a:t> point a citation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118 citations </a:t>
            </a:r>
            <a:r>
              <a:rPr lang="da-DK" dirty="0" err="1"/>
              <a:t>cite</a:t>
            </a:r>
            <a:r>
              <a:rPr lang="da-DK" dirty="0"/>
              <a:t> </a:t>
            </a:r>
            <a:r>
              <a:rPr lang="da-DK" dirty="0" err="1"/>
              <a:t>another</a:t>
            </a:r>
            <a:r>
              <a:rPr lang="da-DK" dirty="0"/>
              <a:t> legislative </a:t>
            </a:r>
            <a:r>
              <a:rPr lang="da-DK" dirty="0" err="1"/>
              <a:t>document</a:t>
            </a:r>
            <a:endParaRPr lang="da-DK" dirty="0"/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A new </a:t>
            </a:r>
            <a:r>
              <a:rPr lang="da-DK" dirty="0" err="1"/>
              <a:t>document</a:t>
            </a:r>
            <a:r>
              <a:rPr lang="da-DK" dirty="0"/>
              <a:t> is </a:t>
            </a:r>
            <a:r>
              <a:rPr lang="da-DK" dirty="0" err="1"/>
              <a:t>now</a:t>
            </a:r>
            <a:r>
              <a:rPr lang="da-DK" dirty="0"/>
              <a:t> </a:t>
            </a:r>
            <a:r>
              <a:rPr lang="da-DK" dirty="0" err="1"/>
              <a:t>added</a:t>
            </a:r>
            <a:r>
              <a:rPr lang="da-DK" dirty="0"/>
              <a:t> to the </a:t>
            </a:r>
            <a:r>
              <a:rPr lang="da-DK" dirty="0" err="1"/>
              <a:t>both</a:t>
            </a:r>
            <a:r>
              <a:rPr lang="da-DK" dirty="0"/>
              <a:t> </a:t>
            </a:r>
            <a:r>
              <a:rPr lang="da-DK" dirty="0" err="1"/>
              <a:t>category</a:t>
            </a:r>
            <a:r>
              <a:rPr lang="da-DK" dirty="0"/>
              <a:t>. </a:t>
            </a:r>
          </a:p>
          <a:p>
            <a:pPr marL="742950" lvl="1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32013D1386 </a:t>
            </a:r>
            <a:r>
              <a:rPr lang="da-DK" dirty="0" err="1"/>
              <a:t>was</a:t>
            </a:r>
            <a:r>
              <a:rPr lang="da-DK" dirty="0"/>
              <a:t> pulled from the </a:t>
            </a:r>
            <a:r>
              <a:rPr lang="da-DK" dirty="0" err="1"/>
              <a:t>search</a:t>
            </a:r>
            <a:r>
              <a:rPr lang="da-DK" dirty="0"/>
              <a:t> </a:t>
            </a:r>
            <a:r>
              <a:rPr lang="da-DK" dirty="0" err="1"/>
              <a:t>result</a:t>
            </a:r>
            <a:r>
              <a:rPr lang="da-DK" dirty="0"/>
              <a:t> and is a </a:t>
            </a:r>
            <a:r>
              <a:rPr lang="da-DK" dirty="0" err="1"/>
              <a:t>second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  </a:t>
            </a:r>
          </a:p>
          <a:p>
            <a:pPr>
              <a:lnSpc>
                <a:spcPct val="100000"/>
              </a:lnSpc>
            </a:pP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Total: </a:t>
            </a:r>
          </a:p>
          <a:p>
            <a:pPr>
              <a:lnSpc>
                <a:spcPct val="100000"/>
              </a:lnSpc>
            </a:pPr>
            <a:r>
              <a:rPr lang="da-DK" dirty="0"/>
              <a:t>583 </a:t>
            </a:r>
            <a:r>
              <a:rPr lang="da-DK" dirty="0" err="1"/>
              <a:t>vertices</a:t>
            </a: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2466 </a:t>
            </a:r>
            <a:r>
              <a:rPr lang="da-DK" dirty="0" err="1"/>
              <a:t>edge</a:t>
            </a:r>
            <a:r>
              <a:rPr lang="da-DK" dirty="0"/>
              <a:t> </a:t>
            </a:r>
            <a:r>
              <a:rPr lang="da-DK" dirty="0" err="1"/>
              <a:t>interactions</a:t>
            </a:r>
            <a:endParaRPr lang="da-DK" dirty="0"/>
          </a:p>
        </p:txBody>
      </p:sp>
      <p:pic>
        <p:nvPicPr>
          <p:cNvPr id="5" name="Picture 4" descr="Chart, scatter chart&#10;&#10;Description automatically generated">
            <a:extLst>
              <a:ext uri="{FF2B5EF4-FFF2-40B4-BE49-F238E27FC236}">
                <a16:creationId xmlns:a16="http://schemas.microsoft.com/office/drawing/2014/main" id="{302435E7-3DE9-C5E8-C07D-1FB75EE01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8554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817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E14158-9C41-640F-913E-A949711AF12A}"/>
              </a:ext>
            </a:extLst>
          </p:cNvPr>
          <p:cNvSpPr txBox="1"/>
          <p:nvPr/>
        </p:nvSpPr>
        <p:spPr>
          <a:xfrm>
            <a:off x="342900" y="428625"/>
            <a:ext cx="5205493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endParaRPr lang="da-DK" dirty="0">
              <a:sym typeface="Wingdings" panose="05000000000000000000" pitchFamily="2" charset="2"/>
            </a:endParaRPr>
          </a:p>
          <a:p>
            <a:r>
              <a:rPr lang="da-DK" sz="1600" dirty="0">
                <a:sym typeface="Wingdings" panose="05000000000000000000" pitchFamily="2" charset="2"/>
              </a:rPr>
              <a:t>EUROVOC term labels and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r>
              <a:rPr lang="da-DK" sz="1600" dirty="0">
                <a:sym typeface="Wingdings" panose="05000000000000000000" pitchFamily="2" charset="2"/>
              </a:rPr>
              <a:t> for the 24 </a:t>
            </a:r>
            <a:r>
              <a:rPr lang="da-DK" sz="1600" dirty="0" err="1">
                <a:sym typeface="Wingdings" panose="05000000000000000000" pitchFamily="2" charset="2"/>
              </a:rPr>
              <a:t>document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results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600" dirty="0">
                <a:sym typeface="Wingdings" panose="05000000000000000000" pitchFamily="2" charset="2"/>
              </a:rPr>
              <a:t>103 </a:t>
            </a:r>
            <a:r>
              <a:rPr lang="da-DK" sz="1600" dirty="0" err="1">
                <a:sym typeface="Wingdings" panose="05000000000000000000" pitchFamily="2" charset="2"/>
              </a:rPr>
              <a:t>eurovoc</a:t>
            </a:r>
            <a:r>
              <a:rPr lang="da-DK" sz="1600" dirty="0">
                <a:sym typeface="Wingdings" panose="05000000000000000000" pitchFamily="2" charset="2"/>
              </a:rPr>
              <a:t> labels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to 29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In total </a:t>
            </a:r>
            <a:r>
              <a:rPr lang="da-DK" sz="1600" dirty="0" err="1">
                <a:sym typeface="Wingdings" panose="05000000000000000000" pitchFamily="2" charset="2"/>
              </a:rPr>
              <a:t>there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are</a:t>
            </a:r>
            <a:r>
              <a:rPr lang="da-DK" sz="1600" dirty="0">
                <a:sym typeface="Wingdings" panose="05000000000000000000" pitchFamily="2" charset="2"/>
              </a:rPr>
              <a:t> 607 term </a:t>
            </a:r>
            <a:r>
              <a:rPr lang="da-DK" sz="1600" dirty="0" err="1">
                <a:sym typeface="Wingdings" panose="05000000000000000000" pitchFamily="2" charset="2"/>
              </a:rPr>
              <a:t>co-occurance</a:t>
            </a:r>
            <a:r>
              <a:rPr lang="da-DK" sz="1600" dirty="0">
                <a:sym typeface="Wingdings" panose="05000000000000000000" pitchFamily="2" charset="2"/>
              </a:rPr>
              <a:t> pairs. (</a:t>
            </a:r>
            <a:r>
              <a:rPr lang="da-DK" sz="1600" dirty="0" err="1">
                <a:sym typeface="Wingdings" panose="05000000000000000000" pitchFamily="2" charset="2"/>
              </a:rPr>
              <a:t>Nmbr</a:t>
            </a:r>
            <a:r>
              <a:rPr lang="da-DK" sz="1600" dirty="0">
                <a:sym typeface="Wingdings" panose="05000000000000000000" pitchFamily="2" charset="2"/>
              </a:rPr>
              <a:t> of times terms </a:t>
            </a:r>
            <a:r>
              <a:rPr lang="da-DK" sz="1600" dirty="0" err="1">
                <a:sym typeface="Wingdings" panose="05000000000000000000" pitchFamily="2" charset="2"/>
              </a:rPr>
              <a:t>appear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within</a:t>
            </a:r>
            <a:r>
              <a:rPr lang="da-DK" sz="1600" dirty="0">
                <a:sym typeface="Wingdings" panose="05000000000000000000" pitchFamily="2" charset="2"/>
              </a:rPr>
              <a:t> a EU </a:t>
            </a:r>
            <a:r>
              <a:rPr lang="da-DK" sz="1600" dirty="0" err="1">
                <a:sym typeface="Wingdings" panose="05000000000000000000" pitchFamily="2" charset="2"/>
              </a:rPr>
              <a:t>document</a:t>
            </a:r>
            <a:r>
              <a:rPr lang="da-DK" sz="1600" dirty="0">
                <a:sym typeface="Wingdings" panose="05000000000000000000" pitchFamily="2" charset="2"/>
              </a:rPr>
              <a:t>)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r>
              <a:rPr lang="da-DK" sz="1600" dirty="0">
                <a:sym typeface="Wingdings" panose="05000000000000000000" pitchFamily="2" charset="2"/>
              </a:rPr>
              <a:t>Min </a:t>
            </a:r>
            <a:r>
              <a:rPr lang="da-DK" sz="1600" dirty="0" err="1">
                <a:sym typeface="Wingdings" panose="05000000000000000000" pitchFamily="2" charset="2"/>
              </a:rPr>
              <a:t>number</a:t>
            </a:r>
            <a:r>
              <a:rPr lang="da-DK" sz="1600" dirty="0">
                <a:sym typeface="Wingdings" panose="05000000000000000000" pitchFamily="2" charset="2"/>
              </a:rPr>
              <a:t> of </a:t>
            </a:r>
            <a:r>
              <a:rPr lang="da-DK" sz="1600" dirty="0" err="1">
                <a:sym typeface="Wingdings" panose="05000000000000000000" pitchFamily="2" charset="2"/>
              </a:rPr>
              <a:t>counts</a:t>
            </a:r>
            <a:r>
              <a:rPr lang="da-DK" sz="1600" dirty="0">
                <a:sym typeface="Wingdings" panose="05000000000000000000" pitchFamily="2" charset="2"/>
              </a:rPr>
              <a:t> is 1 and the </a:t>
            </a:r>
            <a:r>
              <a:rPr lang="da-DK" sz="1600" dirty="0" err="1">
                <a:sym typeface="Wingdings" panose="05000000000000000000" pitchFamily="2" charset="2"/>
              </a:rPr>
              <a:t>maximum</a:t>
            </a:r>
            <a:r>
              <a:rPr lang="da-DK" sz="1600" dirty="0">
                <a:sym typeface="Wingdings" panose="05000000000000000000" pitchFamily="2" charset="2"/>
              </a:rPr>
              <a:t> is 6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Total:</a:t>
            </a: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1214 </a:t>
            </a:r>
            <a:r>
              <a:rPr lang="da-DK" sz="1600" dirty="0" err="1">
                <a:sym typeface="Wingdings" panose="05000000000000000000" pitchFamily="2" charset="2"/>
              </a:rPr>
              <a:t>edge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interactions</a:t>
            </a: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103 </a:t>
            </a:r>
            <a:r>
              <a:rPr lang="da-DK" sz="1600" dirty="0" err="1">
                <a:sym typeface="Wingdings" panose="05000000000000000000" pitchFamily="2" charset="2"/>
              </a:rPr>
              <a:t>vertices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The </a:t>
            </a:r>
            <a:r>
              <a:rPr lang="da-DK" sz="1600" dirty="0" err="1">
                <a:sym typeface="Wingdings" panose="05000000000000000000" pitchFamily="2" charset="2"/>
              </a:rPr>
              <a:t>only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documents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that</a:t>
            </a:r>
            <a:r>
              <a:rPr lang="da-DK" sz="1600" dirty="0">
                <a:sym typeface="Wingdings" panose="05000000000000000000" pitchFamily="2" charset="2"/>
              </a:rPr>
              <a:t> had more </a:t>
            </a:r>
            <a:r>
              <a:rPr lang="da-DK" sz="1600" dirty="0" err="1">
                <a:sym typeface="Wingdings" panose="05000000000000000000" pitchFamily="2" charset="2"/>
              </a:rPr>
              <a:t>than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one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were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those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that</a:t>
            </a:r>
            <a:r>
              <a:rPr lang="da-DK" sz="1600" dirty="0">
                <a:sym typeface="Wingdings" panose="05000000000000000000" pitchFamily="2" charset="2"/>
              </a:rPr>
              <a:t> have a country label. For the sake of </a:t>
            </a:r>
            <a:r>
              <a:rPr lang="da-DK" sz="1600" dirty="0" err="1">
                <a:sym typeface="Wingdings" panose="05000000000000000000" pitchFamily="2" charset="2"/>
              </a:rPr>
              <a:t>simplicity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here</a:t>
            </a:r>
            <a:r>
              <a:rPr lang="da-DK" sz="1600" dirty="0">
                <a:sym typeface="Wingdings" panose="05000000000000000000" pitchFamily="2" charset="2"/>
              </a:rPr>
              <a:t> i </a:t>
            </a:r>
            <a:r>
              <a:rPr lang="da-DK" sz="1600" dirty="0" err="1">
                <a:sym typeface="Wingdings" panose="05000000000000000000" pitchFamily="2" charset="2"/>
              </a:rPr>
              <a:t>only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kept</a:t>
            </a:r>
            <a:r>
              <a:rPr lang="da-DK" sz="1600" dirty="0">
                <a:sym typeface="Wingdings" panose="05000000000000000000" pitchFamily="2" charset="2"/>
              </a:rPr>
              <a:t> the </a:t>
            </a:r>
            <a:r>
              <a:rPr lang="da-DK" sz="1600" dirty="0" err="1">
                <a:sym typeface="Wingdings" panose="05000000000000000000" pitchFamily="2" charset="2"/>
              </a:rPr>
              <a:t>continent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</a:t>
            </a:r>
            <a:r>
              <a:rPr lang="da-DK" sz="1600" dirty="0">
                <a:sym typeface="Wingdings" panose="05000000000000000000" pitchFamily="2" charset="2"/>
              </a:rPr>
              <a:t> and </a:t>
            </a:r>
            <a:r>
              <a:rPr lang="da-DK" sz="1600" dirty="0" err="1">
                <a:sym typeface="Wingdings" panose="05000000000000000000" pitchFamily="2" charset="2"/>
              </a:rPr>
              <a:t>filtered</a:t>
            </a:r>
            <a:r>
              <a:rPr lang="da-DK" sz="1600" dirty="0">
                <a:sym typeface="Wingdings" panose="05000000000000000000" pitchFamily="2" charset="2"/>
              </a:rPr>
              <a:t> out the </a:t>
            </a:r>
            <a:r>
              <a:rPr lang="da-DK" sz="1600" dirty="0" err="1">
                <a:sym typeface="Wingdings" panose="05000000000000000000" pitchFamily="2" charset="2"/>
              </a:rPr>
              <a:t>other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r>
              <a:rPr lang="da-DK" sz="1600" dirty="0">
                <a:sym typeface="Wingdings" panose="05000000000000000000" pitchFamily="2" charset="2"/>
              </a:rPr>
              <a:t>. </a:t>
            </a:r>
          </a:p>
          <a:p>
            <a:pPr algn="l"/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en-US" sz="1600" dirty="0">
                <a:sym typeface="Wingdings" panose="05000000000000000000" pitchFamily="2" charset="2"/>
              </a:rPr>
              <a:t>*label size is equiv. to percent of edges associated to the word out of total edges</a:t>
            </a:r>
            <a:endParaRPr lang="da-DK" sz="1600" dirty="0">
              <a:sym typeface="Wingdings" panose="05000000000000000000" pitchFamily="2" charset="2"/>
            </a:endParaRPr>
          </a:p>
          <a:p>
            <a:pPr algn="l"/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7" name="Picture 6" descr="Timeline&#10;&#10;Description automatically generated">
            <a:extLst>
              <a:ext uri="{FF2B5EF4-FFF2-40B4-BE49-F238E27FC236}">
                <a16:creationId xmlns:a16="http://schemas.microsoft.com/office/drawing/2014/main" id="{98B4D43A-07AB-FE32-B06D-3FE64B5C3A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0128" y="0"/>
            <a:ext cx="6501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552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4FE3C7-EC48-4FF6-6C1C-4033AF86A9D2}"/>
              </a:ext>
            </a:extLst>
          </p:cNvPr>
          <p:cNvSpPr txBox="1"/>
          <p:nvPr/>
        </p:nvSpPr>
        <p:spPr>
          <a:xfrm>
            <a:off x="342900" y="428625"/>
            <a:ext cx="5205493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r>
              <a:rPr lang="da-DK" dirty="0">
                <a:sym typeface="Wingdings" panose="05000000000000000000" pitchFamily="2" charset="2"/>
              </a:rPr>
              <a:t>To </a:t>
            </a:r>
            <a:r>
              <a:rPr lang="da-DK" dirty="0" err="1">
                <a:sym typeface="Wingdings" panose="05000000000000000000" pitchFamily="2" charset="2"/>
              </a:rPr>
              <a:t>make</a:t>
            </a:r>
            <a:r>
              <a:rPr lang="da-DK" dirty="0">
                <a:sym typeface="Wingdings" panose="05000000000000000000" pitchFamily="2" charset="2"/>
              </a:rPr>
              <a:t> a </a:t>
            </a:r>
            <a:r>
              <a:rPr lang="da-DK" dirty="0" err="1">
                <a:sym typeface="Wingdings" panose="05000000000000000000" pitchFamily="2" charset="2"/>
              </a:rPr>
              <a:t>slightly</a:t>
            </a:r>
            <a:r>
              <a:rPr lang="da-DK" dirty="0">
                <a:sym typeface="Wingdings" panose="05000000000000000000" pitchFamily="2" charset="2"/>
              </a:rPr>
              <a:t> more </a:t>
            </a:r>
            <a:r>
              <a:rPr lang="da-DK" dirty="0" err="1">
                <a:sym typeface="Wingdings" panose="05000000000000000000" pitchFamily="2" charset="2"/>
              </a:rPr>
              <a:t>legable</a:t>
            </a:r>
            <a:r>
              <a:rPr lang="da-DK" dirty="0">
                <a:sym typeface="Wingdings" panose="05000000000000000000" pitchFamily="2" charset="2"/>
              </a:rPr>
              <a:t> label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 plots</a:t>
            </a:r>
          </a:p>
          <a:p>
            <a:r>
              <a:rPr lang="da-DK" dirty="0">
                <a:sym typeface="Wingdings" panose="05000000000000000000" pitchFamily="2" charset="2"/>
              </a:rPr>
              <a:t> I have </a:t>
            </a:r>
            <a:r>
              <a:rPr lang="da-DK" dirty="0" err="1">
                <a:sym typeface="Wingdings" panose="05000000000000000000" pitchFamily="2" charset="2"/>
              </a:rPr>
              <a:t>filtered</a:t>
            </a:r>
            <a:r>
              <a:rPr lang="da-DK" dirty="0">
                <a:sym typeface="Wingdings" panose="05000000000000000000" pitchFamily="2" charset="2"/>
              </a:rPr>
              <a:t> out the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 data to </a:t>
            </a:r>
            <a:r>
              <a:rPr lang="da-DK" dirty="0" err="1">
                <a:sym typeface="Wingdings" panose="05000000000000000000" pitchFamily="2" charset="2"/>
              </a:rPr>
              <a:t>be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only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those</a:t>
            </a:r>
            <a:r>
              <a:rPr lang="da-DK" dirty="0">
                <a:sym typeface="Wingdings" panose="05000000000000000000" pitchFamily="2" charset="2"/>
              </a:rPr>
              <a:t> labels </a:t>
            </a:r>
            <a:r>
              <a:rPr lang="da-DK" dirty="0" err="1">
                <a:sym typeface="Wingdings" panose="05000000000000000000" pitchFamily="2" charset="2"/>
              </a:rPr>
              <a:t>that</a:t>
            </a:r>
            <a:r>
              <a:rPr lang="da-DK" dirty="0">
                <a:sym typeface="Wingdings" panose="05000000000000000000" pitchFamily="2" charset="2"/>
              </a:rPr>
              <a:t> have &gt; median </a:t>
            </a:r>
            <a:r>
              <a:rPr lang="da-DK" dirty="0" err="1">
                <a:sym typeface="Wingdings" panose="05000000000000000000" pitchFamily="2" charset="2"/>
              </a:rPr>
              <a:t>edge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number</a:t>
            </a:r>
            <a:r>
              <a:rPr lang="da-DK" dirty="0">
                <a:sym typeface="Wingdings" panose="05000000000000000000" pitchFamily="2" charset="2"/>
              </a:rPr>
              <a:t> (9 </a:t>
            </a:r>
            <a:r>
              <a:rPr lang="da-DK" dirty="0" err="1">
                <a:sym typeface="Wingdings" panose="05000000000000000000" pitchFamily="2" charset="2"/>
              </a:rPr>
              <a:t>edges</a:t>
            </a:r>
            <a:r>
              <a:rPr lang="da-DK" dirty="0">
                <a:sym typeface="Wingdings" panose="05000000000000000000" pitchFamily="2" charset="2"/>
              </a:rPr>
              <a:t>).  </a:t>
            </a:r>
          </a:p>
          <a:p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r>
              <a:rPr lang="da-DK" dirty="0">
                <a:latin typeface="Lato" panose="020F0502020204030203" pitchFamily="34" charset="0"/>
                <a:sym typeface="Wingdings" panose="05000000000000000000" pitchFamily="2" charset="2"/>
              </a:rPr>
              <a:t>Total:</a:t>
            </a:r>
          </a:p>
          <a:p>
            <a:r>
              <a:rPr lang="da-DK" b="0" i="0" dirty="0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738 </a:t>
            </a:r>
            <a:r>
              <a:rPr lang="da-DK" b="0" i="0" dirty="0" err="1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edge</a:t>
            </a:r>
            <a:r>
              <a:rPr lang="da-DK" b="0" i="0" dirty="0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 </a:t>
            </a:r>
            <a:r>
              <a:rPr lang="da-DK" b="0" i="0" dirty="0" err="1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interactions</a:t>
            </a:r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r>
              <a:rPr lang="da-DK" dirty="0">
                <a:latin typeface="Lato" panose="020F0502020204030203" pitchFamily="34" charset="0"/>
                <a:sym typeface="Wingdings" panose="05000000000000000000" pitchFamily="2" charset="2"/>
              </a:rPr>
              <a:t>54 </a:t>
            </a:r>
            <a:r>
              <a:rPr lang="da-DK" dirty="0" err="1">
                <a:latin typeface="Lato" panose="020F0502020204030203" pitchFamily="34" charset="0"/>
                <a:sym typeface="Wingdings" panose="05000000000000000000" pitchFamily="2" charset="2"/>
              </a:rPr>
              <a:t>vertices</a:t>
            </a:r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4" name="Picture 3" descr="Timeline&#10;&#10;Description automatically generated">
            <a:extLst>
              <a:ext uri="{FF2B5EF4-FFF2-40B4-BE49-F238E27FC236}">
                <a16:creationId xmlns:a16="http://schemas.microsoft.com/office/drawing/2014/main" id="{0646255D-D256-89E8-AA19-63BA8408C6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8393" y="0"/>
            <a:ext cx="6501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433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3DD500-8D42-8A4F-1536-B593AFBCEBFE}"/>
              </a:ext>
            </a:extLst>
          </p:cNvPr>
          <p:cNvSpPr txBox="1"/>
          <p:nvPr/>
        </p:nvSpPr>
        <p:spPr>
          <a:xfrm>
            <a:off x="285903" y="81235"/>
            <a:ext cx="46577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Second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endParaRPr lang="da-DK" sz="1600" b="1" dirty="0"/>
          </a:p>
          <a:p>
            <a:endParaRPr lang="da-DK" sz="1200" dirty="0"/>
          </a:p>
          <a:p>
            <a:endParaRPr lang="da-DK" dirty="0">
              <a:sym typeface="Wingdings" panose="05000000000000000000" pitchFamily="2" charset="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BDD47C-F9D6-AB23-69D0-414521EF3EFD}"/>
              </a:ext>
            </a:extLst>
          </p:cNvPr>
          <p:cNvSpPr txBox="1"/>
          <p:nvPr/>
        </p:nvSpPr>
        <p:spPr>
          <a:xfrm>
            <a:off x="508884" y="744344"/>
            <a:ext cx="11842487" cy="60324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 18 unique search terms with exactly = TRUE</a:t>
            </a:r>
          </a:p>
          <a:p>
            <a:endParaRPr lang="en-US" sz="1600" dirty="0"/>
          </a:p>
          <a:p>
            <a:r>
              <a:rPr lang="en-US" sz="1600" b="1" dirty="0"/>
              <a:t> Results</a:t>
            </a:r>
            <a:r>
              <a:rPr lang="en-US" sz="1600" dirty="0"/>
              <a:t>:</a:t>
            </a:r>
          </a:p>
          <a:p>
            <a:r>
              <a:rPr lang="en-US" sz="1600" b="1" dirty="0"/>
              <a:t> </a:t>
            </a:r>
            <a:r>
              <a:rPr lang="en-US" sz="1600" b="1" dirty="0" err="1"/>
              <a:t>search.term</a:t>
            </a:r>
            <a:r>
              <a:rPr lang="en-US" sz="1600" b="1" dirty="0"/>
              <a:t>                              </a:t>
            </a:r>
            <a:r>
              <a:rPr lang="en-US" sz="1600" b="1" dirty="0" err="1"/>
              <a:t>nmbr</a:t>
            </a:r>
            <a:r>
              <a:rPr lang="en-US" sz="1600" b="1" dirty="0"/>
              <a:t>. of documents pulled.     </a:t>
            </a:r>
            <a:r>
              <a:rPr lang="en-US" sz="1600" b="1" dirty="0" err="1"/>
              <a:t>Nmbr</a:t>
            </a:r>
            <a:r>
              <a:rPr lang="en-US" sz="1600" b="1" dirty="0"/>
              <a:t>. Of </a:t>
            </a:r>
            <a:r>
              <a:rPr lang="en-US" sz="1600" b="1" dirty="0" err="1"/>
              <a:t>mpas</a:t>
            </a:r>
            <a:r>
              <a:rPr lang="en-US" sz="1600" b="1" dirty="0"/>
              <a:t>        </a:t>
            </a:r>
            <a:r>
              <a:rPr lang="en-US" sz="1600" b="1" dirty="0" err="1"/>
              <a:t>Nmbr</a:t>
            </a:r>
            <a:r>
              <a:rPr lang="en-US" sz="1600" b="1" dirty="0"/>
              <a:t>. Of EU countries linked via </a:t>
            </a:r>
            <a:r>
              <a:rPr lang="en-US" sz="1600" b="1" dirty="0" err="1"/>
              <a:t>mpa</a:t>
            </a:r>
            <a:r>
              <a:rPr lang="en-US" sz="1600" b="1" dirty="0"/>
              <a:t> </a:t>
            </a:r>
            <a:r>
              <a:rPr lang="en-US" sz="1600" b="1" dirty="0" err="1"/>
              <a:t>desig</a:t>
            </a:r>
            <a:r>
              <a:rPr lang="en-US" sz="1600" b="1" dirty="0"/>
              <a:t>.</a:t>
            </a:r>
          </a:p>
          <a:p>
            <a:r>
              <a:rPr lang="en-US" sz="1600" dirty="0"/>
              <a:t> </a:t>
            </a:r>
            <a:r>
              <a:rPr lang="en-US" sz="1600" dirty="0" err="1"/>
              <a:t>barcelona</a:t>
            </a:r>
            <a:r>
              <a:rPr lang="en-US" sz="1600" dirty="0"/>
              <a:t> convention*?                           36                                          24                                              4</a:t>
            </a:r>
          </a:p>
          <a:p>
            <a:r>
              <a:rPr lang="en-US" sz="1600" dirty="0"/>
              <a:t> birds directive*?                                        36		           843                                             23</a:t>
            </a:r>
          </a:p>
          <a:p>
            <a:r>
              <a:rPr lang="en-US" sz="1600" dirty="0"/>
              <a:t> habitats directive*?                                   58                                    1388 + 481	                            22</a:t>
            </a:r>
          </a:p>
          <a:p>
            <a:r>
              <a:rPr lang="en-US" sz="1600" dirty="0"/>
              <a:t> </a:t>
            </a:r>
            <a:r>
              <a:rPr lang="en-US" sz="1600" dirty="0" err="1"/>
              <a:t>helcom</a:t>
            </a:r>
            <a:r>
              <a:rPr lang="en-US" sz="1600" dirty="0"/>
              <a:t>*?                                                    14                                          163                                             8</a:t>
            </a:r>
          </a:p>
          <a:p>
            <a:r>
              <a:rPr lang="en-US" sz="1600" dirty="0"/>
              <a:t> marine protected area*?                         24                                           441                                           10</a:t>
            </a:r>
          </a:p>
          <a:p>
            <a:r>
              <a:rPr lang="en-US" sz="1600" dirty="0"/>
              <a:t> </a:t>
            </a:r>
            <a:r>
              <a:rPr lang="en-US" sz="1600" dirty="0" err="1"/>
              <a:t>ospar</a:t>
            </a:r>
            <a:r>
              <a:rPr lang="en-US" sz="1600" dirty="0"/>
              <a:t>*?                                                       27                                           441                                           10</a:t>
            </a:r>
          </a:p>
          <a:p>
            <a:r>
              <a:rPr lang="en-US" sz="1600" dirty="0"/>
              <a:t> </a:t>
            </a:r>
            <a:r>
              <a:rPr lang="en-US" sz="1600" dirty="0" err="1"/>
              <a:t>ramsar</a:t>
            </a:r>
            <a:r>
              <a:rPr lang="en-US" sz="1600" dirty="0"/>
              <a:t> site*?                                              1                                            237                                            18</a:t>
            </a:r>
          </a:p>
          <a:p>
            <a:r>
              <a:rPr lang="en-US" sz="1600" dirty="0"/>
              <a:t> site of community importance*?            4                                            481                                            18</a:t>
            </a:r>
          </a:p>
          <a:p>
            <a:r>
              <a:rPr lang="en-US" sz="1600" dirty="0"/>
              <a:t> sites of community importance*?         10                                           481                                            18</a:t>
            </a:r>
          </a:p>
          <a:p>
            <a:r>
              <a:rPr lang="en-US" sz="1600" dirty="0"/>
              <a:t> special areas of conservation*?             23                                           1388                                          19</a:t>
            </a:r>
          </a:p>
          <a:p>
            <a:r>
              <a:rPr lang="en-US" sz="1600" dirty="0"/>
              <a:t> special protection area*?                        29                                           843 		           23</a:t>
            </a:r>
          </a:p>
          <a:p>
            <a:r>
              <a:rPr lang="en-US" sz="1600" dirty="0"/>
              <a:t> specially protected area*?                      10                                             7  		           2</a:t>
            </a:r>
          </a:p>
          <a:p>
            <a:r>
              <a:rPr lang="en-US" sz="1600" dirty="0"/>
              <a:t> world heritage site*?                                2                                              9  		           4</a:t>
            </a:r>
          </a:p>
          <a:p>
            <a:r>
              <a:rPr lang="da-DK" sz="1600" dirty="0"/>
              <a:t> </a:t>
            </a:r>
            <a:r>
              <a:rPr lang="da-DK" sz="1600" dirty="0" err="1"/>
              <a:t>unesco-mab</a:t>
            </a:r>
            <a:r>
              <a:rPr lang="da-DK" sz="1600" dirty="0"/>
              <a:t> </a:t>
            </a:r>
            <a:r>
              <a:rPr lang="da-DK" sz="1600" dirty="0" err="1"/>
              <a:t>biosphere</a:t>
            </a:r>
            <a:r>
              <a:rPr lang="da-DK" sz="1600" dirty="0"/>
              <a:t> reserve                0		                 11	                              6</a:t>
            </a:r>
          </a:p>
          <a:p>
            <a:r>
              <a:rPr lang="da-DK" sz="1600" dirty="0"/>
              <a:t> </a:t>
            </a:r>
            <a:r>
              <a:rPr lang="da-DK" sz="1600" dirty="0" err="1"/>
              <a:t>baltic</a:t>
            </a:r>
            <a:r>
              <a:rPr lang="da-DK" sz="1600" dirty="0"/>
              <a:t> </a:t>
            </a:r>
            <a:r>
              <a:rPr lang="da-DK" sz="1600" dirty="0" err="1"/>
              <a:t>sea</a:t>
            </a:r>
            <a:r>
              <a:rPr lang="da-DK" sz="1600" dirty="0"/>
              <a:t> </a:t>
            </a:r>
            <a:r>
              <a:rPr lang="da-DK" sz="1600" dirty="0" err="1"/>
              <a:t>protected</a:t>
            </a:r>
            <a:r>
              <a:rPr lang="da-DK" sz="1600" dirty="0"/>
              <a:t> </a:t>
            </a:r>
            <a:r>
              <a:rPr lang="da-DK" sz="1600" dirty="0" err="1"/>
              <a:t>area</a:t>
            </a:r>
            <a:r>
              <a:rPr lang="da-DK" sz="1600" dirty="0"/>
              <a:t>                           0                                            163                                            8</a:t>
            </a:r>
          </a:p>
          <a:p>
            <a:r>
              <a:rPr lang="da-DK" sz="1600" dirty="0"/>
              <a:t> </a:t>
            </a:r>
            <a:r>
              <a:rPr lang="en-US" sz="1600" dirty="0"/>
              <a:t>specially protected areas of                      0 		                  24                                                 4</a:t>
            </a:r>
          </a:p>
          <a:p>
            <a:r>
              <a:rPr lang="en-US" sz="1600" dirty="0" err="1"/>
              <a:t>mediterranean</a:t>
            </a:r>
            <a:r>
              <a:rPr lang="en-US" sz="1600" dirty="0"/>
              <a:t> importance </a:t>
            </a:r>
            <a:r>
              <a:rPr lang="da-DK" sz="1600" dirty="0"/>
              <a:t>   </a:t>
            </a:r>
          </a:p>
          <a:p>
            <a:r>
              <a:rPr lang="da-DK" sz="1600" dirty="0"/>
              <a:t> </a:t>
            </a:r>
            <a:r>
              <a:rPr lang="da-DK" sz="1600" dirty="0" err="1"/>
              <a:t>wetland</a:t>
            </a:r>
            <a:r>
              <a:rPr lang="da-DK" sz="1600" dirty="0"/>
              <a:t> of international </a:t>
            </a:r>
            <a:r>
              <a:rPr lang="da-DK" sz="1600" dirty="0" err="1"/>
              <a:t>importance</a:t>
            </a:r>
            <a:r>
              <a:rPr lang="da-DK" sz="1600" dirty="0"/>
              <a:t>     0		                   </a:t>
            </a:r>
            <a:r>
              <a:rPr lang="en-US" sz="1600" dirty="0"/>
              <a:t>237                                            18</a:t>
            </a:r>
            <a:r>
              <a:rPr lang="da-DK" sz="1600" dirty="0"/>
              <a:t>     </a:t>
            </a:r>
          </a:p>
          <a:p>
            <a:r>
              <a:rPr lang="da-DK" sz="1600" dirty="0" err="1"/>
              <a:t>cartagena</a:t>
            </a:r>
            <a:r>
              <a:rPr lang="da-DK" sz="1600" dirty="0"/>
              <a:t> </a:t>
            </a:r>
            <a:r>
              <a:rPr lang="da-DK" sz="1600" dirty="0" err="1"/>
              <a:t>convention</a:t>
            </a:r>
            <a:r>
              <a:rPr lang="da-DK" sz="1600" dirty="0"/>
              <a:t>                                 0    			7  		           2</a:t>
            </a:r>
          </a:p>
          <a:p>
            <a:endParaRPr lang="da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EC6929-0CE5-D7F4-FC71-56FFB714D1FE}"/>
              </a:ext>
            </a:extLst>
          </p:cNvPr>
          <p:cNvSpPr txBox="1"/>
          <p:nvPr/>
        </p:nvSpPr>
        <p:spPr>
          <a:xfrm>
            <a:off x="6202016" y="0"/>
            <a:ext cx="60774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/>
              <a:t>*</a:t>
            </a:r>
            <a:r>
              <a:rPr lang="da-DK" dirty="0"/>
              <a:t>The </a:t>
            </a:r>
            <a:r>
              <a:rPr lang="da-DK" dirty="0" err="1"/>
              <a:t>search</a:t>
            </a:r>
            <a:r>
              <a:rPr lang="da-DK" dirty="0"/>
              <a:t> terms </a:t>
            </a:r>
            <a:r>
              <a:rPr lang="da-DK" dirty="0" err="1"/>
              <a:t>are</a:t>
            </a:r>
            <a:r>
              <a:rPr lang="da-DK" dirty="0"/>
              <a:t> the designation </a:t>
            </a:r>
            <a:r>
              <a:rPr lang="da-DK" dirty="0" err="1"/>
              <a:t>names</a:t>
            </a:r>
            <a:r>
              <a:rPr lang="da-DK" dirty="0"/>
              <a:t> for </a:t>
            </a:r>
            <a:r>
              <a:rPr lang="da-DK" dirty="0" err="1"/>
              <a:t>MPAs</a:t>
            </a:r>
            <a:r>
              <a:rPr lang="da-DK" dirty="0"/>
              <a:t> </a:t>
            </a:r>
            <a:r>
              <a:rPr lang="da-DK" dirty="0" err="1"/>
              <a:t>within</a:t>
            </a:r>
            <a:r>
              <a:rPr lang="da-DK" dirty="0"/>
              <a:t> the EU (</a:t>
            </a:r>
            <a:r>
              <a:rPr lang="da-DK" dirty="0" err="1"/>
              <a:t>including</a:t>
            </a:r>
            <a:r>
              <a:rPr lang="da-DK" dirty="0"/>
              <a:t> UK) </a:t>
            </a:r>
            <a:r>
              <a:rPr lang="da-DK" dirty="0" err="1"/>
              <a:t>which</a:t>
            </a:r>
            <a:r>
              <a:rPr lang="da-DK" dirty="0"/>
              <a:t> have a designation type </a:t>
            </a:r>
            <a:r>
              <a:rPr lang="da-DK" dirty="0" err="1"/>
              <a:t>that</a:t>
            </a:r>
            <a:r>
              <a:rPr lang="da-DK" dirty="0"/>
              <a:t> is </a:t>
            </a:r>
            <a:r>
              <a:rPr lang="da-DK" dirty="0" err="1"/>
              <a:t>defined</a:t>
            </a:r>
            <a:r>
              <a:rPr lang="da-DK" dirty="0"/>
              <a:t> as International or Regional </a:t>
            </a:r>
          </a:p>
        </p:txBody>
      </p:sp>
    </p:spTree>
    <p:extLst>
      <p:ext uri="{BB962C8B-B14F-4D97-AF65-F5344CB8AC3E}">
        <p14:creationId xmlns:p14="http://schemas.microsoft.com/office/powerpoint/2010/main" val="722555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439331-2E1F-C284-4D8F-5F2B38B5EBC2}"/>
              </a:ext>
            </a:extLst>
          </p:cNvPr>
          <p:cNvSpPr txBox="1"/>
          <p:nvPr/>
        </p:nvSpPr>
        <p:spPr>
          <a:xfrm>
            <a:off x="130768" y="958634"/>
            <a:ext cx="4189386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b="1" dirty="0"/>
              <a:t>Second EUR-Lex </a:t>
            </a:r>
            <a:r>
              <a:rPr lang="da-DK" sz="1200" b="1" dirty="0" err="1"/>
              <a:t>search</a:t>
            </a:r>
            <a:r>
              <a:rPr lang="da-DK" sz="1200" b="1" dirty="0"/>
              <a:t> </a:t>
            </a:r>
            <a:r>
              <a:rPr lang="da-DK" sz="1200" b="1" dirty="0" err="1"/>
              <a:t>query</a:t>
            </a:r>
            <a:endParaRPr lang="da-DK" sz="1200" b="1" dirty="0"/>
          </a:p>
          <a:p>
            <a:endParaRPr lang="da-DK" sz="12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Resulted</a:t>
            </a:r>
            <a:r>
              <a:rPr lang="da-DK" sz="1200" dirty="0">
                <a:sym typeface="Wingdings" panose="05000000000000000000" pitchFamily="2" charset="2"/>
              </a:rPr>
              <a:t> in 179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41 decisions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16 </a:t>
            </a:r>
            <a:r>
              <a:rPr lang="da-DK" sz="1200" dirty="0" err="1">
                <a:sym typeface="Wingdings" panose="05000000000000000000" pitchFamily="2" charset="2"/>
              </a:rPr>
              <a:t>directives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83 opinions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 </a:t>
            </a:r>
            <a:r>
              <a:rPr lang="da-DK" sz="1200" dirty="0" err="1">
                <a:sym typeface="Wingdings" panose="05000000000000000000" pitchFamily="2" charset="2"/>
              </a:rPr>
              <a:t>recomendation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36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95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another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515 </a:t>
            </a:r>
            <a:r>
              <a:rPr lang="da-DK" sz="1200" dirty="0" err="1">
                <a:sym typeface="Wingdings" panose="05000000000000000000" pitchFamily="2" charset="2"/>
              </a:rPr>
              <a:t>distinct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citations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b="1" dirty="0" err="1">
                <a:sym typeface="Wingdings" panose="05000000000000000000" pitchFamily="2" charset="2"/>
              </a:rPr>
              <a:t>Within</a:t>
            </a:r>
            <a:r>
              <a:rPr lang="da-DK" sz="1200" b="1" dirty="0">
                <a:sym typeface="Wingdings" panose="05000000000000000000" pitchFamily="2" charset="2"/>
              </a:rPr>
              <a:t> the </a:t>
            </a:r>
            <a:r>
              <a:rPr lang="da-DK" sz="1200" b="1" dirty="0" err="1">
                <a:sym typeface="Wingdings" panose="05000000000000000000" pitchFamily="2" charset="2"/>
              </a:rPr>
              <a:t>network</a:t>
            </a:r>
            <a:r>
              <a:rPr lang="da-DK" sz="1200" b="1" dirty="0">
                <a:sym typeface="Wingdings" panose="05000000000000000000" pitchFamily="2" charset="2"/>
              </a:rPr>
              <a:t> plot: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When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</a:t>
            </a:r>
            <a:r>
              <a:rPr lang="da-DK" sz="1200" dirty="0">
                <a:sym typeface="Wingdings" panose="05000000000000000000" pitchFamily="2" charset="2"/>
              </a:rPr>
              <a:t> filter for citations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legeslation</a:t>
            </a:r>
            <a:r>
              <a:rPr lang="da-DK" sz="1200" dirty="0">
                <a:sym typeface="Wingdings" panose="05000000000000000000" pitchFamily="2" charset="2"/>
              </a:rPr>
              <a:t>…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85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legislation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317 out of the 515 citations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legislative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32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in the </a:t>
            </a:r>
            <a:r>
              <a:rPr lang="da-DK" sz="1200" dirty="0" err="1">
                <a:sym typeface="Wingdings" panose="05000000000000000000" pitchFamily="2" charset="2"/>
              </a:rPr>
              <a:t>search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also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cited</a:t>
            </a:r>
            <a:r>
              <a:rPr lang="da-DK" sz="1200" dirty="0">
                <a:sym typeface="Wingdings" panose="05000000000000000000" pitchFamily="2" charset="2"/>
              </a:rPr>
              <a:t> in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.</a:t>
            </a:r>
            <a:r>
              <a:rPr lang="da-DK" sz="1200" b="1" dirty="0">
                <a:sym typeface="Wingdings" panose="05000000000000000000" pitchFamily="2" charset="2"/>
              </a:rPr>
              <a:t>)</a:t>
            </a:r>
          </a:p>
          <a:p>
            <a:endParaRPr lang="da-DK" sz="1200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 Total:</a:t>
            </a:r>
          </a:p>
          <a:p>
            <a:r>
              <a:rPr lang="da-DK" sz="1200" dirty="0">
                <a:sym typeface="Wingdings" panose="05000000000000000000" pitchFamily="2" charset="2"/>
              </a:rPr>
              <a:t>381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1,162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endParaRPr lang="da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C0F2AC-E533-AE7A-2CD7-2D425E41AB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904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43CD55C-87DA-30A3-2BE6-8376C069B86F}"/>
              </a:ext>
            </a:extLst>
          </p:cNvPr>
          <p:cNvSpPr txBox="1">
            <a:spLocks/>
          </p:cNvSpPr>
          <p:nvPr/>
        </p:nvSpPr>
        <p:spPr>
          <a:xfrm>
            <a:off x="372849" y="718870"/>
            <a:ext cx="4579937" cy="3811588"/>
          </a:xfrm>
          <a:prstGeom prst="rect">
            <a:avLst/>
          </a:prstGeom>
        </p:spPr>
        <p:txBody>
          <a:bodyPr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da-DK" sz="1700" b="1" dirty="0"/>
              <a:t>First EUR-Lex </a:t>
            </a:r>
            <a:r>
              <a:rPr lang="da-DK" sz="1700" b="1" dirty="0" err="1"/>
              <a:t>search</a:t>
            </a:r>
            <a:r>
              <a:rPr lang="da-DK" sz="1700" b="1" dirty="0"/>
              <a:t> </a:t>
            </a:r>
            <a:r>
              <a:rPr lang="da-DK" sz="1700" b="1" dirty="0" err="1"/>
              <a:t>query</a:t>
            </a:r>
            <a:r>
              <a:rPr lang="da-DK" sz="1700" b="1" dirty="0"/>
              <a:t> ”marine </a:t>
            </a:r>
            <a:r>
              <a:rPr lang="da-DK" sz="1700" b="1" dirty="0" err="1"/>
              <a:t>protected</a:t>
            </a:r>
            <a:r>
              <a:rPr lang="da-DK" sz="1700" b="1" dirty="0"/>
              <a:t>”, </a:t>
            </a:r>
            <a:r>
              <a:rPr lang="da-DK" sz="1700" b="1" dirty="0" err="1"/>
              <a:t>exactly</a:t>
            </a:r>
            <a:r>
              <a:rPr lang="da-DK" sz="1700" b="1" dirty="0"/>
              <a:t>=TRUE</a:t>
            </a:r>
          </a:p>
          <a:p>
            <a:pPr>
              <a:lnSpc>
                <a:spcPct val="100000"/>
              </a:lnSpc>
            </a:pPr>
            <a:endParaRPr lang="da-DK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1065 </a:t>
            </a:r>
            <a:r>
              <a:rPr lang="da-DK" dirty="0" err="1">
                <a:sym typeface="Wingdings" panose="05000000000000000000" pitchFamily="2" charset="2"/>
              </a:rPr>
              <a:t>distinct</a:t>
            </a:r>
            <a:r>
              <a:rPr lang="da-DK" dirty="0">
                <a:sym typeface="Wingdings" panose="05000000000000000000" pitchFamily="2" charset="2"/>
              </a:rPr>
              <a:t> legislative </a:t>
            </a:r>
            <a:r>
              <a:rPr lang="da-DK" dirty="0" err="1">
                <a:sym typeface="Wingdings" panose="05000000000000000000" pitchFamily="2" charset="2"/>
              </a:rPr>
              <a:t>documents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</a:t>
            </a:r>
            <a:r>
              <a:rPr lang="da-DK" dirty="0" err="1"/>
              <a:t>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citations´.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312 citations </a:t>
            </a:r>
            <a:r>
              <a:rPr lang="da-DK" dirty="0" err="1"/>
              <a:t>cite</a:t>
            </a:r>
            <a:r>
              <a:rPr lang="da-DK" dirty="0"/>
              <a:t> </a:t>
            </a:r>
            <a:r>
              <a:rPr lang="da-DK" dirty="0" err="1"/>
              <a:t>another</a:t>
            </a:r>
            <a:r>
              <a:rPr lang="da-DK" dirty="0"/>
              <a:t> legislative </a:t>
            </a:r>
            <a:r>
              <a:rPr lang="da-DK" dirty="0" err="1"/>
              <a:t>document</a:t>
            </a:r>
            <a:endParaRPr lang="da-DK" dirty="0"/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 new </a:t>
            </a:r>
            <a:r>
              <a:rPr lang="da-DK" dirty="0" err="1"/>
              <a:t>documents</a:t>
            </a:r>
            <a:r>
              <a:rPr lang="da-DK" dirty="0"/>
              <a:t> </a:t>
            </a:r>
            <a:r>
              <a:rPr lang="da-DK" dirty="0" err="1"/>
              <a:t>now</a:t>
            </a:r>
            <a:r>
              <a:rPr lang="da-DK" dirty="0"/>
              <a:t> </a:t>
            </a:r>
            <a:r>
              <a:rPr lang="da-DK" dirty="0" err="1"/>
              <a:t>added</a:t>
            </a:r>
            <a:r>
              <a:rPr lang="da-DK" dirty="0"/>
              <a:t> to the </a:t>
            </a:r>
            <a:r>
              <a:rPr lang="da-DK" dirty="0" err="1"/>
              <a:t>both</a:t>
            </a:r>
            <a:r>
              <a:rPr lang="da-DK" dirty="0"/>
              <a:t> </a:t>
            </a:r>
            <a:r>
              <a:rPr lang="da-DK" dirty="0" err="1"/>
              <a:t>category</a:t>
            </a:r>
            <a:r>
              <a:rPr lang="da-DK" dirty="0"/>
              <a:t>. </a:t>
            </a:r>
          </a:p>
          <a:p>
            <a:pPr marL="742950" lvl="1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pulled from the </a:t>
            </a:r>
            <a:r>
              <a:rPr lang="da-DK" dirty="0" err="1"/>
              <a:t>search</a:t>
            </a:r>
            <a:r>
              <a:rPr lang="da-DK" dirty="0"/>
              <a:t> </a:t>
            </a:r>
            <a:r>
              <a:rPr lang="da-DK" dirty="0" err="1"/>
              <a:t>result</a:t>
            </a:r>
            <a:r>
              <a:rPr lang="da-DK" dirty="0"/>
              <a:t> and is a </a:t>
            </a:r>
            <a:r>
              <a:rPr lang="da-DK" dirty="0" err="1"/>
              <a:t>second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  </a:t>
            </a:r>
          </a:p>
          <a:p>
            <a:pPr>
              <a:lnSpc>
                <a:spcPct val="100000"/>
              </a:lnSpc>
            </a:pP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Total: </a:t>
            </a:r>
          </a:p>
          <a:p>
            <a:pPr>
              <a:lnSpc>
                <a:spcPct val="100000"/>
              </a:lnSpc>
            </a:pPr>
            <a:r>
              <a:rPr lang="da-DK" dirty="0"/>
              <a:t>1126 </a:t>
            </a:r>
            <a:r>
              <a:rPr lang="da-DK" dirty="0" err="1"/>
              <a:t>vertices</a:t>
            </a: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5340 </a:t>
            </a:r>
            <a:r>
              <a:rPr lang="da-DK" dirty="0" err="1"/>
              <a:t>edge</a:t>
            </a:r>
            <a:r>
              <a:rPr lang="da-DK" dirty="0"/>
              <a:t> </a:t>
            </a:r>
            <a:r>
              <a:rPr lang="da-DK" dirty="0" err="1"/>
              <a:t>interactions</a:t>
            </a:r>
            <a:endParaRPr lang="da-DK" dirty="0"/>
          </a:p>
        </p:txBody>
      </p:sp>
      <p:pic>
        <p:nvPicPr>
          <p:cNvPr id="7" name="Picture 6" descr="A map of the world&#10;&#10;Description automatically generated with low confidence">
            <a:extLst>
              <a:ext uri="{FF2B5EF4-FFF2-40B4-BE49-F238E27FC236}">
                <a16:creationId xmlns:a16="http://schemas.microsoft.com/office/drawing/2014/main" id="{BC884D9A-1DDC-4E81-9486-3610008144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069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16A0F9-1F74-543F-8D97-EB75A76CE5DB}"/>
              </a:ext>
            </a:extLst>
          </p:cNvPr>
          <p:cNvSpPr txBox="1"/>
          <p:nvPr/>
        </p:nvSpPr>
        <p:spPr>
          <a:xfrm>
            <a:off x="164670" y="823831"/>
            <a:ext cx="3492931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 err="1"/>
              <a:t>second</a:t>
            </a:r>
            <a:r>
              <a:rPr lang="da-DK" sz="1600" b="1" dirty="0"/>
              <a:t>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endParaRPr lang="da-DK" sz="1200" dirty="0"/>
          </a:p>
          <a:p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EUROVOC term labels and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r>
              <a:rPr lang="da-DK" sz="1200" dirty="0">
                <a:sym typeface="Wingdings" panose="05000000000000000000" pitchFamily="2" charset="2"/>
              </a:rPr>
              <a:t> for the 179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403 </a:t>
            </a:r>
            <a:r>
              <a:rPr lang="da-DK" sz="1200" dirty="0" err="1">
                <a:sym typeface="Wingdings" panose="05000000000000000000" pitchFamily="2" charset="2"/>
              </a:rPr>
              <a:t>eurovoc</a:t>
            </a:r>
            <a:r>
              <a:rPr lang="da-DK" sz="1200" dirty="0">
                <a:sym typeface="Wingdings" panose="05000000000000000000" pitchFamily="2" charset="2"/>
              </a:rPr>
              <a:t> labels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to 79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In total </a:t>
            </a: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2,627 term </a:t>
            </a:r>
            <a:r>
              <a:rPr lang="da-DK" sz="1200" dirty="0" err="1">
                <a:sym typeface="Wingdings" panose="05000000000000000000" pitchFamily="2" charset="2"/>
              </a:rPr>
              <a:t>co-occurance</a:t>
            </a:r>
            <a:r>
              <a:rPr lang="da-DK" sz="1200" dirty="0">
                <a:sym typeface="Wingdings" panose="05000000000000000000" pitchFamily="2" charset="2"/>
              </a:rPr>
              <a:t> pairs. (</a:t>
            </a:r>
            <a:r>
              <a:rPr lang="da-DK" sz="1200" dirty="0" err="1">
                <a:sym typeface="Wingdings" panose="05000000000000000000" pitchFamily="2" charset="2"/>
              </a:rPr>
              <a:t>Nmbr</a:t>
            </a:r>
            <a:r>
              <a:rPr lang="da-DK" sz="1200" dirty="0">
                <a:sym typeface="Wingdings" panose="05000000000000000000" pitchFamily="2" charset="2"/>
              </a:rPr>
              <a:t> of times terms </a:t>
            </a:r>
            <a:r>
              <a:rPr lang="da-DK" sz="1200" dirty="0" err="1">
                <a:sym typeface="Wingdings" panose="05000000000000000000" pitchFamily="2" charset="2"/>
              </a:rPr>
              <a:t>appear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within</a:t>
            </a:r>
            <a:r>
              <a:rPr lang="da-DK" sz="1200" dirty="0">
                <a:sym typeface="Wingdings" panose="05000000000000000000" pitchFamily="2" charset="2"/>
              </a:rPr>
              <a:t> a EU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)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Min </a:t>
            </a:r>
            <a:r>
              <a:rPr lang="da-DK" sz="1200" dirty="0" err="1">
                <a:sym typeface="Wingdings" panose="05000000000000000000" pitchFamily="2" charset="2"/>
              </a:rPr>
              <a:t>number</a:t>
            </a:r>
            <a:r>
              <a:rPr lang="da-DK" sz="1200" dirty="0">
                <a:sym typeface="Wingdings" panose="05000000000000000000" pitchFamily="2" charset="2"/>
              </a:rPr>
              <a:t> of </a:t>
            </a:r>
            <a:r>
              <a:rPr lang="da-DK" sz="1200" dirty="0" err="1">
                <a:sym typeface="Wingdings" panose="05000000000000000000" pitchFamily="2" charset="2"/>
              </a:rPr>
              <a:t>counts</a:t>
            </a:r>
            <a:r>
              <a:rPr lang="da-DK" sz="1200" dirty="0">
                <a:sym typeface="Wingdings" panose="05000000000000000000" pitchFamily="2" charset="2"/>
              </a:rPr>
              <a:t> is 1 and the </a:t>
            </a:r>
            <a:r>
              <a:rPr lang="da-DK" sz="1200" dirty="0" err="1">
                <a:sym typeface="Wingdings" panose="05000000000000000000" pitchFamily="2" charset="2"/>
              </a:rPr>
              <a:t>maximum</a:t>
            </a:r>
            <a:r>
              <a:rPr lang="da-DK" sz="1200" dirty="0">
                <a:sym typeface="Wingdings" panose="05000000000000000000" pitchFamily="2" charset="2"/>
              </a:rPr>
              <a:t> is 20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To </a:t>
            </a:r>
            <a:r>
              <a:rPr lang="da-DK" sz="1200" dirty="0" err="1">
                <a:sym typeface="Wingdings" panose="05000000000000000000" pitchFamily="2" charset="2"/>
              </a:rPr>
              <a:t>make</a:t>
            </a:r>
            <a:r>
              <a:rPr lang="da-DK" sz="1200" dirty="0">
                <a:sym typeface="Wingdings" panose="05000000000000000000" pitchFamily="2" charset="2"/>
              </a:rPr>
              <a:t> a </a:t>
            </a:r>
            <a:r>
              <a:rPr lang="da-DK" sz="1200" dirty="0" err="1">
                <a:sym typeface="Wingdings" panose="05000000000000000000" pitchFamily="2" charset="2"/>
              </a:rPr>
              <a:t>slightly</a:t>
            </a:r>
            <a:r>
              <a:rPr lang="da-DK" sz="1200" dirty="0">
                <a:sym typeface="Wingdings" panose="05000000000000000000" pitchFamily="2" charset="2"/>
              </a:rPr>
              <a:t> more </a:t>
            </a:r>
            <a:r>
              <a:rPr lang="da-DK" sz="1200" dirty="0" err="1">
                <a:sym typeface="Wingdings" panose="05000000000000000000" pitchFamily="2" charset="2"/>
              </a:rPr>
              <a:t>legable</a:t>
            </a:r>
            <a:r>
              <a:rPr lang="da-DK" sz="1200" dirty="0">
                <a:sym typeface="Wingdings" panose="05000000000000000000" pitchFamily="2" charset="2"/>
              </a:rPr>
              <a:t> label </a:t>
            </a:r>
            <a:r>
              <a:rPr lang="da-DK" sz="1200" dirty="0" err="1">
                <a:sym typeface="Wingdings" panose="05000000000000000000" pitchFamily="2" charset="2"/>
              </a:rPr>
              <a:t>network</a:t>
            </a:r>
            <a:r>
              <a:rPr lang="da-DK" sz="1200" dirty="0">
                <a:sym typeface="Wingdings" panose="05000000000000000000" pitchFamily="2" charset="2"/>
              </a:rPr>
              <a:t> plots</a:t>
            </a:r>
          </a:p>
          <a:p>
            <a:r>
              <a:rPr lang="da-DK" sz="1200" dirty="0">
                <a:sym typeface="Wingdings" panose="05000000000000000000" pitchFamily="2" charset="2"/>
              </a:rPr>
              <a:t> I have </a:t>
            </a:r>
            <a:r>
              <a:rPr lang="da-DK" sz="1200" dirty="0" err="1">
                <a:sym typeface="Wingdings" panose="05000000000000000000" pitchFamily="2" charset="2"/>
              </a:rPr>
              <a:t>filtered</a:t>
            </a:r>
            <a:r>
              <a:rPr lang="da-DK" sz="1200" dirty="0">
                <a:sym typeface="Wingdings" panose="05000000000000000000" pitchFamily="2" charset="2"/>
              </a:rPr>
              <a:t> out the </a:t>
            </a:r>
            <a:r>
              <a:rPr lang="da-DK" sz="1200" dirty="0" err="1">
                <a:sym typeface="Wingdings" panose="05000000000000000000" pitchFamily="2" charset="2"/>
              </a:rPr>
              <a:t>network</a:t>
            </a:r>
            <a:r>
              <a:rPr lang="da-DK" sz="1200" dirty="0">
                <a:sym typeface="Wingdings" panose="05000000000000000000" pitchFamily="2" charset="2"/>
              </a:rPr>
              <a:t> data to </a:t>
            </a:r>
            <a:r>
              <a:rPr lang="da-DK" sz="1200" dirty="0" err="1">
                <a:sym typeface="Wingdings" panose="05000000000000000000" pitchFamily="2" charset="2"/>
              </a:rPr>
              <a:t>be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those</a:t>
            </a:r>
            <a:r>
              <a:rPr lang="da-DK" sz="1200" dirty="0">
                <a:sym typeface="Wingdings" panose="05000000000000000000" pitchFamily="2" charset="2"/>
              </a:rPr>
              <a:t> labels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have &gt; median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number</a:t>
            </a:r>
            <a:r>
              <a:rPr lang="da-DK" sz="1200" dirty="0">
                <a:sym typeface="Wingdings" panose="05000000000000000000" pitchFamily="2" charset="2"/>
              </a:rPr>
              <a:t> (9 </a:t>
            </a:r>
            <a:r>
              <a:rPr lang="da-DK" sz="1200" dirty="0" err="1">
                <a:sym typeface="Wingdings" panose="05000000000000000000" pitchFamily="2" charset="2"/>
              </a:rPr>
              <a:t>edges</a:t>
            </a:r>
            <a:r>
              <a:rPr lang="da-DK" sz="1200" dirty="0">
                <a:sym typeface="Wingdings" panose="05000000000000000000" pitchFamily="2" charset="2"/>
              </a:rPr>
              <a:t>).  </a:t>
            </a:r>
          </a:p>
          <a:p>
            <a:pPr algn="l"/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Total:</a:t>
            </a: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3,614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226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The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had more </a:t>
            </a:r>
            <a:r>
              <a:rPr lang="da-DK" sz="1200" dirty="0" err="1">
                <a:sym typeface="Wingdings" panose="05000000000000000000" pitchFamily="2" charset="2"/>
              </a:rPr>
              <a:t>than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those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have a country label. For the sake of </a:t>
            </a:r>
            <a:r>
              <a:rPr lang="da-DK" sz="1200" dirty="0" err="1">
                <a:sym typeface="Wingdings" panose="05000000000000000000" pitchFamily="2" charset="2"/>
              </a:rPr>
              <a:t>simplicity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here</a:t>
            </a:r>
            <a:r>
              <a:rPr lang="da-DK" sz="1200" dirty="0">
                <a:sym typeface="Wingdings" panose="05000000000000000000" pitchFamily="2" charset="2"/>
              </a:rPr>
              <a:t> i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kept</a:t>
            </a:r>
            <a:r>
              <a:rPr lang="da-DK" sz="1200" dirty="0">
                <a:sym typeface="Wingdings" panose="05000000000000000000" pitchFamily="2" charset="2"/>
              </a:rPr>
              <a:t> the </a:t>
            </a:r>
            <a:r>
              <a:rPr lang="da-DK" sz="1200" dirty="0" err="1">
                <a:sym typeface="Wingdings" panose="05000000000000000000" pitchFamily="2" charset="2"/>
              </a:rPr>
              <a:t>continent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</a:t>
            </a:r>
            <a:r>
              <a:rPr lang="da-DK" sz="1200" dirty="0">
                <a:sym typeface="Wingdings" panose="05000000000000000000" pitchFamily="2" charset="2"/>
              </a:rPr>
              <a:t> and </a:t>
            </a:r>
            <a:r>
              <a:rPr lang="da-DK" sz="1200" dirty="0" err="1">
                <a:sym typeface="Wingdings" panose="05000000000000000000" pitchFamily="2" charset="2"/>
              </a:rPr>
              <a:t>filtered</a:t>
            </a:r>
            <a:r>
              <a:rPr lang="da-DK" sz="1200" dirty="0">
                <a:sym typeface="Wingdings" panose="05000000000000000000" pitchFamily="2" charset="2"/>
              </a:rPr>
              <a:t> out the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r>
              <a:rPr lang="da-DK" sz="1200" dirty="0">
                <a:sym typeface="Wingdings" panose="05000000000000000000" pitchFamily="2" charset="2"/>
              </a:rPr>
              <a:t>. </a:t>
            </a:r>
          </a:p>
          <a:p>
            <a:pPr algn="l"/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4" name="Picture 3" descr="Timeline&#10;&#10;Description automatically generated">
            <a:extLst>
              <a:ext uri="{FF2B5EF4-FFF2-40B4-BE49-F238E27FC236}">
                <a16:creationId xmlns:a16="http://schemas.microsoft.com/office/drawing/2014/main" id="{B1751CBE-3C60-E267-B40E-CCAFC53FD4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97" r="3536"/>
          <a:stretch/>
        </p:blipFill>
        <p:spPr>
          <a:xfrm>
            <a:off x="3599480" y="0"/>
            <a:ext cx="85395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044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54756A-6B1F-B0BE-66FA-268FDD5CAE98}"/>
              </a:ext>
            </a:extLst>
          </p:cNvPr>
          <p:cNvSpPr txBox="1"/>
          <p:nvPr/>
        </p:nvSpPr>
        <p:spPr>
          <a:xfrm>
            <a:off x="1672552" y="936010"/>
            <a:ext cx="4773573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What I have for the text data for both queries</a:t>
            </a:r>
          </a:p>
          <a:p>
            <a:endParaRPr lang="en-US" b="1" dirty="0"/>
          </a:p>
          <a:p>
            <a:endParaRPr lang="en-US" sz="1600" b="1" dirty="0"/>
          </a:p>
          <a:p>
            <a:r>
              <a:rPr lang="en-US" sz="1600" dirty="0"/>
              <a:t>Extracted title and body and combined them and cleaned up the text data </a:t>
            </a:r>
          </a:p>
          <a:p>
            <a:endParaRPr lang="en-US" sz="1600" b="1" dirty="0"/>
          </a:p>
          <a:p>
            <a:endParaRPr lang="en-US" sz="1600" b="1" dirty="0"/>
          </a:p>
          <a:p>
            <a:endParaRPr lang="en-US" sz="1600" b="1" dirty="0"/>
          </a:p>
          <a:p>
            <a:endParaRPr lang="en-US" sz="1600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da-DK" dirty="0"/>
              <a:t>Will start </a:t>
            </a:r>
            <a:r>
              <a:rPr lang="da-DK" dirty="0" err="1"/>
              <a:t>trying</a:t>
            </a:r>
            <a:r>
              <a:rPr lang="da-DK" dirty="0"/>
              <a:t> to </a:t>
            </a:r>
            <a:r>
              <a:rPr lang="da-DK" dirty="0" err="1"/>
              <a:t>pulling</a:t>
            </a:r>
            <a:r>
              <a:rPr lang="da-DK" dirty="0"/>
              <a:t> the </a:t>
            </a:r>
            <a:r>
              <a:rPr lang="da-DK" dirty="0" err="1"/>
              <a:t>sentence</a:t>
            </a:r>
            <a:r>
              <a:rPr lang="da-DK" dirty="0"/>
              <a:t>/</a:t>
            </a:r>
            <a:r>
              <a:rPr lang="da-DK" dirty="0" err="1"/>
              <a:t>paragraph</a:t>
            </a:r>
            <a:r>
              <a:rPr lang="da-DK" dirty="0"/>
              <a:t> the citation is </a:t>
            </a:r>
            <a:r>
              <a:rPr lang="da-DK" dirty="0" err="1"/>
              <a:t>located</a:t>
            </a:r>
            <a:r>
              <a:rPr lang="da-DK" dirty="0"/>
              <a:t> </a:t>
            </a:r>
            <a:r>
              <a:rPr lang="da-DK" dirty="0" err="1"/>
              <a:t>within</a:t>
            </a:r>
            <a:endParaRPr lang="da-DK" dirty="0"/>
          </a:p>
          <a:p>
            <a:endParaRPr 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6304A0-57D4-2ED2-E90F-0280FCA7DFB5}"/>
              </a:ext>
            </a:extLst>
          </p:cNvPr>
          <p:cNvSpPr txBox="1"/>
          <p:nvPr/>
        </p:nvSpPr>
        <p:spPr>
          <a:xfrm>
            <a:off x="6604440" y="1561000"/>
            <a:ext cx="420076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EUR-Lex Corpus: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EUR-Lex result Documents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Meta data includes 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year/date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enforced(True/False/NA)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Type of leg. (dir., rec., </a:t>
            </a:r>
            <a:r>
              <a:rPr lang="en-US" sz="1600" dirty="0" err="1">
                <a:sym typeface="Wingdings" pitchFamily="2" charset="2"/>
              </a:rPr>
              <a:t>opin</a:t>
            </a:r>
            <a:r>
              <a:rPr lang="en-US" sz="1600" dirty="0">
                <a:sym typeface="Wingdings" pitchFamily="2" charset="2"/>
              </a:rPr>
              <a:t>, </a:t>
            </a:r>
            <a:r>
              <a:rPr lang="en-US" sz="1600" dirty="0" err="1">
                <a:sym typeface="Wingdings" pitchFamily="2" charset="2"/>
              </a:rPr>
              <a:t>etc</a:t>
            </a:r>
            <a:r>
              <a:rPr lang="en-US" sz="1600" dirty="0">
                <a:sym typeface="Wingdings" pitchFamily="2" charset="2"/>
              </a:rPr>
              <a:t>…)</a:t>
            </a:r>
          </a:p>
          <a:p>
            <a:pPr marL="742950" lvl="1" indent="-285750">
              <a:buFont typeface="Wingdings" pitchFamily="2" charset="2"/>
              <a:buChar char="à"/>
            </a:pPr>
            <a:r>
              <a:rPr lang="en-US" sz="1600" dirty="0">
                <a:sym typeface="Wingdings" pitchFamily="2" charset="2"/>
              </a:rPr>
              <a:t> for the second query we also have the MPA design. Search term (i.e. bird directive, </a:t>
            </a:r>
            <a:r>
              <a:rPr lang="en-US" sz="1600" dirty="0" err="1">
                <a:sym typeface="Wingdings" pitchFamily="2" charset="2"/>
              </a:rPr>
              <a:t>helcom</a:t>
            </a:r>
            <a:r>
              <a:rPr lang="en-US" sz="1600" dirty="0">
                <a:sym typeface="Wingdings" pitchFamily="2" charset="2"/>
              </a:rPr>
              <a:t>, </a:t>
            </a:r>
            <a:r>
              <a:rPr lang="en-US" sz="1600" dirty="0" err="1">
                <a:sym typeface="Wingdings" pitchFamily="2" charset="2"/>
              </a:rPr>
              <a:t>etc</a:t>
            </a:r>
            <a:r>
              <a:rPr lang="en-US" sz="1600" dirty="0">
                <a:sym typeface="Wingdings" pitchFamily="2" charset="2"/>
              </a:rPr>
              <a:t>…)</a:t>
            </a:r>
            <a:endParaRPr lang="en-US" sz="16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61427D44-474C-DF99-99AC-1BBC6432CF7F}"/>
              </a:ext>
            </a:extLst>
          </p:cNvPr>
          <p:cNvSpPr/>
          <p:nvPr/>
        </p:nvSpPr>
        <p:spPr>
          <a:xfrm>
            <a:off x="5515960" y="1561000"/>
            <a:ext cx="785648" cy="147747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9231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02">
            <a:extLst>
              <a:ext uri="{FF2B5EF4-FFF2-40B4-BE49-F238E27FC236}">
                <a16:creationId xmlns:a16="http://schemas.microsoft.com/office/drawing/2014/main" id="{BE57B42F-2AA8-F870-9491-3BD31AA45EE9}"/>
              </a:ext>
            </a:extLst>
          </p:cNvPr>
          <p:cNvSpPr/>
          <p:nvPr/>
        </p:nvSpPr>
        <p:spPr>
          <a:xfrm>
            <a:off x="3849952" y="3027513"/>
            <a:ext cx="4367002" cy="82430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1"/>
                </a:solidFill>
              </a:rPr>
              <a:t>link </a:t>
            </a:r>
            <a:r>
              <a:rPr lang="da-DK" sz="1400" dirty="0" err="1">
                <a:solidFill>
                  <a:schemeClr val="tx1"/>
                </a:solidFill>
              </a:rPr>
              <a:t>associated</a:t>
            </a:r>
            <a:r>
              <a:rPr lang="da-DK" sz="1400" dirty="0">
                <a:solidFill>
                  <a:schemeClr val="tx1"/>
                </a:solidFill>
              </a:rPr>
              <a:t> </a:t>
            </a:r>
            <a:r>
              <a:rPr lang="da-DK" sz="1400" dirty="0" err="1">
                <a:solidFill>
                  <a:schemeClr val="tx1"/>
                </a:solidFill>
              </a:rPr>
              <a:t>document</a:t>
            </a:r>
            <a:r>
              <a:rPr lang="da-DK" sz="1400" dirty="0">
                <a:solidFill>
                  <a:schemeClr val="tx1"/>
                </a:solidFill>
              </a:rPr>
              <a:t> data</a:t>
            </a:r>
          </a:p>
          <a:p>
            <a:pPr algn="ctr"/>
            <a:endParaRPr lang="da-DK" sz="1400" dirty="0"/>
          </a:p>
          <a:p>
            <a:pPr algn="ctr"/>
            <a:endParaRPr lang="da-DK" sz="1400" dirty="0"/>
          </a:p>
          <a:p>
            <a:pPr algn="ctr"/>
            <a:endParaRPr lang="da-DK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7DDDF4-A54E-5A7F-5900-89E3A9DC9AF1}"/>
              </a:ext>
            </a:extLst>
          </p:cNvPr>
          <p:cNvSpPr/>
          <p:nvPr/>
        </p:nvSpPr>
        <p:spPr>
          <a:xfrm>
            <a:off x="4474408" y="94638"/>
            <a:ext cx="3015855" cy="761227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1400" dirty="0"/>
              <a:t>EUR-Lex Database</a:t>
            </a:r>
          </a:p>
          <a:p>
            <a:pPr algn="ctr"/>
            <a:r>
              <a:rPr lang="da-DK" sz="1400" dirty="0" err="1"/>
              <a:t>Extract</a:t>
            </a:r>
            <a:r>
              <a:rPr lang="da-DK" sz="1400" dirty="0"/>
              <a:t> EU </a:t>
            </a:r>
            <a:r>
              <a:rPr lang="da-DK" sz="1400" dirty="0" err="1"/>
              <a:t>legislation</a:t>
            </a:r>
            <a:r>
              <a:rPr lang="da-DK" sz="1400" dirty="0"/>
              <a:t> </a:t>
            </a:r>
            <a:r>
              <a:rPr lang="da-DK" sz="1400" dirty="0" err="1"/>
              <a:t>which</a:t>
            </a:r>
            <a:r>
              <a:rPr lang="da-DK" sz="1400" dirty="0"/>
              <a:t> </a:t>
            </a:r>
            <a:r>
              <a:rPr lang="da-DK" sz="1400" dirty="0" err="1"/>
              <a:t>mentions</a:t>
            </a:r>
            <a:r>
              <a:rPr lang="da-DK" sz="1400" dirty="0"/>
              <a:t>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AEBC7A-F189-D7F1-AB86-BBD0E403EDA6}"/>
              </a:ext>
            </a:extLst>
          </p:cNvPr>
          <p:cNvSpPr txBox="1"/>
          <p:nvPr/>
        </p:nvSpPr>
        <p:spPr>
          <a:xfrm>
            <a:off x="6061184" y="1550631"/>
            <a:ext cx="35174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(2) A query for every official MPA designation title (i.e., world heritage site, Ramsar site, etc.) within the EU and the UK.</a:t>
            </a:r>
          </a:p>
          <a:p>
            <a:endParaRPr lang="da-DK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83D803-871E-635A-0271-AE22C442A14B}"/>
              </a:ext>
            </a:extLst>
          </p:cNvPr>
          <p:cNvSpPr txBox="1"/>
          <p:nvPr/>
        </p:nvSpPr>
        <p:spPr>
          <a:xfrm>
            <a:off x="3572850" y="1537838"/>
            <a:ext cx="160531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(1) ”marine protected”</a:t>
            </a:r>
          </a:p>
          <a:p>
            <a:endParaRPr lang="da-DK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3B5DCF-8F9F-4825-B866-148CB5E081F2}"/>
              </a:ext>
            </a:extLst>
          </p:cNvPr>
          <p:cNvCxnSpPr>
            <a:cxnSpLocks/>
          </p:cNvCxnSpPr>
          <p:nvPr/>
        </p:nvCxnSpPr>
        <p:spPr>
          <a:xfrm flipH="1">
            <a:off x="4488196" y="845273"/>
            <a:ext cx="503539" cy="658153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0F6D07F-CCF1-8AA0-915F-8F5A6FCF99FD}"/>
              </a:ext>
            </a:extLst>
          </p:cNvPr>
          <p:cNvCxnSpPr/>
          <p:nvPr/>
        </p:nvCxnSpPr>
        <p:spPr>
          <a:xfrm>
            <a:off x="6994317" y="900335"/>
            <a:ext cx="495946" cy="615246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FD0B1-2588-6288-41A4-880E2D643C58}"/>
              </a:ext>
            </a:extLst>
          </p:cNvPr>
          <p:cNvSpPr txBox="1"/>
          <p:nvPr/>
        </p:nvSpPr>
        <p:spPr>
          <a:xfrm>
            <a:off x="3781254" y="2394144"/>
            <a:ext cx="24874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/>
              <a:t>24 legislative </a:t>
            </a:r>
            <a:r>
              <a:rPr lang="da-DK" sz="1200" dirty="0" err="1"/>
              <a:t>documents</a:t>
            </a:r>
            <a:endParaRPr lang="da-DK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3A450B-B5C5-DA5F-A168-14CAEDFF9548}"/>
              </a:ext>
            </a:extLst>
          </p:cNvPr>
          <p:cNvSpPr txBox="1"/>
          <p:nvPr/>
        </p:nvSpPr>
        <p:spPr>
          <a:xfrm>
            <a:off x="7026987" y="2410117"/>
            <a:ext cx="3029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/>
              <a:t>179 legislative </a:t>
            </a:r>
            <a:r>
              <a:rPr lang="da-DK" sz="1200" dirty="0" err="1"/>
              <a:t>documents</a:t>
            </a:r>
            <a:endParaRPr lang="da-DK" sz="12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8E9009-5BE1-D17E-6D60-8F5FA34947C6}"/>
              </a:ext>
            </a:extLst>
          </p:cNvPr>
          <p:cNvCxnSpPr>
            <a:cxnSpLocks/>
          </p:cNvCxnSpPr>
          <p:nvPr/>
        </p:nvCxnSpPr>
        <p:spPr>
          <a:xfrm>
            <a:off x="4375505" y="1814837"/>
            <a:ext cx="0" cy="595280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AAD43DA-1E6E-F6CD-F77E-F21EC0A390C7}"/>
              </a:ext>
            </a:extLst>
          </p:cNvPr>
          <p:cNvCxnSpPr>
            <a:cxnSpLocks/>
          </p:cNvCxnSpPr>
          <p:nvPr/>
        </p:nvCxnSpPr>
        <p:spPr>
          <a:xfrm>
            <a:off x="7848335" y="2012000"/>
            <a:ext cx="0" cy="360336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0" name="Graphic 19" descr="Network outline">
            <a:extLst>
              <a:ext uri="{FF2B5EF4-FFF2-40B4-BE49-F238E27FC236}">
                <a16:creationId xmlns:a16="http://schemas.microsoft.com/office/drawing/2014/main" id="{5963E2ED-20B0-066E-25EF-D003BF15CE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91727" y="5115543"/>
            <a:ext cx="758746" cy="758746"/>
          </a:xfrm>
          <a:prstGeom prst="rect">
            <a:avLst/>
          </a:prstGeom>
        </p:spPr>
      </p:pic>
      <p:pic>
        <p:nvPicPr>
          <p:cNvPr id="21" name="Graphic 20" descr="Network outline">
            <a:extLst>
              <a:ext uri="{FF2B5EF4-FFF2-40B4-BE49-F238E27FC236}">
                <a16:creationId xmlns:a16="http://schemas.microsoft.com/office/drawing/2014/main" id="{E818E953-21FE-8075-9BB6-1E685AF443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387264">
            <a:off x="4568106" y="5038841"/>
            <a:ext cx="758746" cy="758746"/>
          </a:xfrm>
          <a:prstGeom prst="rect">
            <a:avLst/>
          </a:prstGeom>
        </p:spPr>
      </p:pic>
      <p:pic>
        <p:nvPicPr>
          <p:cNvPr id="22" name="Graphic 21" descr="Network outline">
            <a:extLst>
              <a:ext uri="{FF2B5EF4-FFF2-40B4-BE49-F238E27FC236}">
                <a16:creationId xmlns:a16="http://schemas.microsoft.com/office/drawing/2014/main" id="{38DC20BC-1239-9ACB-48E3-110C917AD3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762809">
            <a:off x="4581465" y="5500602"/>
            <a:ext cx="758746" cy="758746"/>
          </a:xfrm>
          <a:prstGeom prst="rect">
            <a:avLst/>
          </a:prstGeom>
        </p:spPr>
      </p:pic>
      <p:pic>
        <p:nvPicPr>
          <p:cNvPr id="23" name="Graphic 22" descr="Network outline">
            <a:extLst>
              <a:ext uri="{FF2B5EF4-FFF2-40B4-BE49-F238E27FC236}">
                <a16:creationId xmlns:a16="http://schemas.microsoft.com/office/drawing/2014/main" id="{D0A86861-D495-DB17-7D84-8B35E5964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934484">
            <a:off x="3736184" y="5493303"/>
            <a:ext cx="758746" cy="75874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66383C48-3A42-034B-37F1-1035DD34A8B0}"/>
              </a:ext>
            </a:extLst>
          </p:cNvPr>
          <p:cNvSpPr txBox="1"/>
          <p:nvPr/>
        </p:nvSpPr>
        <p:spPr>
          <a:xfrm>
            <a:off x="3849952" y="3305784"/>
            <a:ext cx="26863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/>
              <a:t>(1) </a:t>
            </a:r>
            <a:r>
              <a:rPr lang="da-DK" sz="1200" dirty="0" err="1"/>
              <a:t>Extract</a:t>
            </a:r>
            <a:r>
              <a:rPr lang="da-DK" sz="1200" dirty="0"/>
              <a:t> </a:t>
            </a:r>
            <a:r>
              <a:rPr lang="da-DK" sz="1200" dirty="0" err="1"/>
              <a:t>document</a:t>
            </a:r>
            <a:r>
              <a:rPr lang="da-DK" sz="1200" dirty="0"/>
              <a:t> citations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2FF6B7E-1969-6D0E-135B-FB7AFD71521B}"/>
              </a:ext>
            </a:extLst>
          </p:cNvPr>
          <p:cNvSpPr txBox="1"/>
          <p:nvPr/>
        </p:nvSpPr>
        <p:spPr>
          <a:xfrm>
            <a:off x="6045075" y="3306932"/>
            <a:ext cx="255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/>
              <a:t>(2) </a:t>
            </a:r>
            <a:r>
              <a:rPr lang="da-DK" sz="1200" dirty="0" err="1"/>
              <a:t>Attach</a:t>
            </a:r>
            <a:r>
              <a:rPr lang="da-DK" sz="1200" dirty="0"/>
              <a:t> </a:t>
            </a:r>
            <a:r>
              <a:rPr lang="da-DK" sz="1200" dirty="0" err="1"/>
              <a:t>documents</a:t>
            </a:r>
            <a:r>
              <a:rPr lang="da-DK" sz="1200" dirty="0"/>
              <a:t> to </a:t>
            </a:r>
            <a:r>
              <a:rPr lang="da-DK" sz="1200" dirty="0" err="1"/>
              <a:t>their</a:t>
            </a:r>
            <a:r>
              <a:rPr lang="da-DK" sz="1200" dirty="0"/>
              <a:t> </a:t>
            </a:r>
            <a:r>
              <a:rPr lang="da-DK" sz="1200" dirty="0" err="1"/>
              <a:t>assigned</a:t>
            </a:r>
            <a:r>
              <a:rPr lang="da-DK" sz="1200" dirty="0"/>
              <a:t> EU labels and </a:t>
            </a:r>
            <a:r>
              <a:rPr lang="da-DK" sz="1200" dirty="0" err="1"/>
              <a:t>themes</a:t>
            </a:r>
            <a:r>
              <a:rPr lang="da-DK" sz="1200" dirty="0"/>
              <a:t>.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CCC681D-4C4E-4743-9009-74C3290129FA}"/>
              </a:ext>
            </a:extLst>
          </p:cNvPr>
          <p:cNvSpPr/>
          <p:nvPr/>
        </p:nvSpPr>
        <p:spPr>
          <a:xfrm>
            <a:off x="5218812" y="5892035"/>
            <a:ext cx="1631245" cy="391130"/>
          </a:xfrm>
          <a:prstGeom prst="ellipse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900" b="1" dirty="0" err="1">
                <a:solidFill>
                  <a:schemeClr val="tx1"/>
                </a:solidFill>
              </a:rPr>
              <a:t>plasic</a:t>
            </a:r>
            <a:endParaRPr lang="da-DK" sz="900" b="1" dirty="0">
              <a:solidFill>
                <a:schemeClr val="tx1"/>
              </a:solidFill>
            </a:endParaRP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AB81F1DE-5134-FD19-541D-ACFB02548FEA}"/>
              </a:ext>
            </a:extLst>
          </p:cNvPr>
          <p:cNvGrpSpPr/>
          <p:nvPr/>
        </p:nvGrpSpPr>
        <p:grpSpPr>
          <a:xfrm rot="693841">
            <a:off x="5858291" y="4866521"/>
            <a:ext cx="3030101" cy="1968416"/>
            <a:chOff x="7837310" y="4395277"/>
            <a:chExt cx="3594651" cy="2410457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C9C3B61E-533A-0762-9568-1DCA0FC5478E}"/>
                </a:ext>
              </a:extLst>
            </p:cNvPr>
            <p:cNvSpPr/>
            <p:nvPr/>
          </p:nvSpPr>
          <p:spPr>
            <a:xfrm>
              <a:off x="7947377" y="5499217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 err="1">
                  <a:solidFill>
                    <a:schemeClr val="tx1"/>
                  </a:solidFill>
                </a:rPr>
                <a:t>sustainable</a:t>
              </a:r>
              <a:r>
                <a:rPr lang="da-DK" sz="900" b="1" dirty="0">
                  <a:solidFill>
                    <a:schemeClr val="tx1"/>
                  </a:solidFill>
                </a:rPr>
                <a:t> </a:t>
              </a:r>
              <a:r>
                <a:rPr lang="da-DK" sz="900" b="1" dirty="0" err="1">
                  <a:solidFill>
                    <a:schemeClr val="tx1"/>
                  </a:solidFill>
                </a:rPr>
                <a:t>development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0FF5FDCD-0B60-918B-2F18-740B41BA83F0}"/>
                </a:ext>
              </a:extLst>
            </p:cNvPr>
            <p:cNvSpPr/>
            <p:nvPr/>
          </p:nvSpPr>
          <p:spPr>
            <a:xfrm>
              <a:off x="8042528" y="4794080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 err="1">
                  <a:solidFill>
                    <a:schemeClr val="tx1"/>
                  </a:solidFill>
                </a:rPr>
                <a:t>catch</a:t>
              </a:r>
              <a:r>
                <a:rPr lang="da-DK" sz="900" b="1" dirty="0">
                  <a:solidFill>
                    <a:schemeClr val="tx1"/>
                  </a:solidFill>
                </a:rPr>
                <a:t> </a:t>
              </a:r>
              <a:r>
                <a:rPr lang="da-DK" sz="900" b="1" dirty="0" err="1">
                  <a:solidFill>
                    <a:schemeClr val="tx1"/>
                  </a:solidFill>
                </a:rPr>
                <a:t>quota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9AEBBAC2-934C-6DFE-1EA9-4C1210EDC5C1}"/>
                </a:ext>
              </a:extLst>
            </p:cNvPr>
            <p:cNvSpPr/>
            <p:nvPr/>
          </p:nvSpPr>
          <p:spPr>
            <a:xfrm>
              <a:off x="9087555" y="5873496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 err="1">
                  <a:solidFill>
                    <a:schemeClr val="tx1"/>
                  </a:solidFill>
                </a:rPr>
                <a:t>oil</a:t>
              </a:r>
              <a:r>
                <a:rPr lang="da-DK" sz="900" b="1" dirty="0">
                  <a:solidFill>
                    <a:schemeClr val="tx1"/>
                  </a:solidFill>
                </a:rPr>
                <a:t> </a:t>
              </a:r>
              <a:r>
                <a:rPr lang="da-DK" sz="900" b="1" dirty="0" err="1">
                  <a:solidFill>
                    <a:schemeClr val="tx1"/>
                  </a:solidFill>
                </a:rPr>
                <a:t>spills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EA4397AB-CFE2-8573-E149-CA76CE73ED2F}"/>
                </a:ext>
              </a:extLst>
            </p:cNvPr>
            <p:cNvSpPr/>
            <p:nvPr/>
          </p:nvSpPr>
          <p:spPr>
            <a:xfrm>
              <a:off x="8523109" y="6090874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>
                  <a:solidFill>
                    <a:schemeClr val="tx1"/>
                  </a:solidFill>
                </a:rPr>
                <a:t>gas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2F47DFF4-5CAC-C108-BD7F-E3EEF2FF9A28}"/>
                </a:ext>
              </a:extLst>
            </p:cNvPr>
            <p:cNvSpPr/>
            <p:nvPr/>
          </p:nvSpPr>
          <p:spPr>
            <a:xfrm>
              <a:off x="9137494" y="4395277"/>
              <a:ext cx="16312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 err="1">
                  <a:solidFill>
                    <a:schemeClr val="tx1"/>
                  </a:solidFill>
                </a:rPr>
                <a:t>indiginous</a:t>
              </a:r>
              <a:r>
                <a:rPr lang="da-DK" sz="900" b="1" dirty="0">
                  <a:solidFill>
                    <a:schemeClr val="tx1"/>
                  </a:solidFill>
                </a:rPr>
                <a:t> </a:t>
              </a:r>
              <a:r>
                <a:rPr lang="da-DK" sz="900" b="1" dirty="0" err="1">
                  <a:solidFill>
                    <a:schemeClr val="tx1"/>
                  </a:solidFill>
                </a:rPr>
                <a:t>communities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E1253534-EE7D-4041-E38D-41B055140DE0}"/>
                </a:ext>
              </a:extLst>
            </p:cNvPr>
            <p:cNvSpPr/>
            <p:nvPr/>
          </p:nvSpPr>
          <p:spPr>
            <a:xfrm>
              <a:off x="9137494" y="5275034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 err="1">
                  <a:solidFill>
                    <a:schemeClr val="tx1"/>
                  </a:solidFill>
                </a:rPr>
                <a:t>fishing</a:t>
              </a:r>
              <a:r>
                <a:rPr lang="da-DK" sz="900" b="1" dirty="0">
                  <a:solidFill>
                    <a:schemeClr val="tx1"/>
                  </a:solidFill>
                </a:rPr>
                <a:t> </a:t>
              </a:r>
              <a:r>
                <a:rPr lang="da-DK" sz="900" b="1" dirty="0" err="1">
                  <a:solidFill>
                    <a:schemeClr val="tx1"/>
                  </a:solidFill>
                </a:rPr>
                <a:t>fleet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F105E0D5-3863-CFFD-45C8-7E07715FEE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28766" y="4833253"/>
              <a:ext cx="710723" cy="68149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C19C0E46-5103-25BC-0B6D-9FBAD90449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26222" y="6181231"/>
              <a:ext cx="313267" cy="1052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AE991B7D-4EBD-CF49-7781-DD825CFE10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86044" y="5897825"/>
              <a:ext cx="170195" cy="19304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00D8D6BA-B16F-7848-DFC3-BBD88372D500}"/>
                </a:ext>
              </a:extLst>
            </p:cNvPr>
            <p:cNvSpPr/>
            <p:nvPr/>
          </p:nvSpPr>
          <p:spPr>
            <a:xfrm>
              <a:off x="7837310" y="6414604"/>
              <a:ext cx="16312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>
                  <a:solidFill>
                    <a:schemeClr val="tx1"/>
                  </a:solidFill>
                </a:rPr>
                <a:t>marine pollution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25B0A37F-A66D-74D1-E535-BE514A1F8E4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17572" y="6327035"/>
              <a:ext cx="253569" cy="1924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C50CAF3C-A290-E4A1-4E92-A97987FB60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856994" y="5854040"/>
              <a:ext cx="280500" cy="34309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1112C186-2A84-E1FF-6573-4E5CE44ABD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2146" y="6363360"/>
              <a:ext cx="170195" cy="19304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A7FF44C2-B218-E905-8077-C0A3DD8233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21889" y="5897825"/>
              <a:ext cx="25395" cy="47858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C6B8F40-E1F6-39C2-C27E-A03F1DF489C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05528" y="5828029"/>
              <a:ext cx="425174" cy="15220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FF64CA8-E40D-9146-5C45-414E9C611635}"/>
                </a:ext>
              </a:extLst>
            </p:cNvPr>
            <p:cNvCxnSpPr>
              <a:cxnSpLocks/>
              <a:stCxn id="43" idx="0"/>
            </p:cNvCxnSpPr>
            <p:nvPr/>
          </p:nvCxnSpPr>
          <p:spPr>
            <a:xfrm flipV="1">
              <a:off x="8686800" y="5104171"/>
              <a:ext cx="11095" cy="39504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91A9D9DD-F0E1-9615-8ECA-CE1AB9A84A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10764" y="4752216"/>
              <a:ext cx="223027" cy="13197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115BAC95-0ED4-582B-2AA0-9BE978DA5FCF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9884879" y="4786407"/>
              <a:ext cx="68238" cy="5628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600DD077-04A5-315C-EF66-77374B0BB0B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76577" y="5075331"/>
              <a:ext cx="474537" cy="2739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73211C92-5469-ABA2-9B16-C0DBA90AF7F8}"/>
                </a:ext>
              </a:extLst>
            </p:cNvPr>
            <p:cNvSpPr/>
            <p:nvPr/>
          </p:nvSpPr>
          <p:spPr>
            <a:xfrm>
              <a:off x="9953116" y="4808220"/>
              <a:ext cx="1478845" cy="391130"/>
            </a:xfrm>
            <a:prstGeom prst="ellipse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a-DK" sz="900" b="1" dirty="0">
                  <a:solidFill>
                    <a:schemeClr val="tx1"/>
                  </a:solidFill>
                </a:rPr>
                <a:t>international </a:t>
              </a:r>
              <a:r>
                <a:rPr lang="da-DK" sz="900" b="1" dirty="0" err="1">
                  <a:solidFill>
                    <a:schemeClr val="tx1"/>
                  </a:solidFill>
                </a:rPr>
                <a:t>waters</a:t>
              </a:r>
              <a:endParaRPr lang="da-DK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8BAE7961-9ED8-A96B-242C-101AC875DC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62531" y="4992595"/>
              <a:ext cx="1070074" cy="1119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A7A93A4-056C-E467-E938-B057921D33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65645" y="5178363"/>
              <a:ext cx="285951" cy="18761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48C63428-75ED-37C1-9368-1B3A79B1A2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98507" y="5257295"/>
              <a:ext cx="624096" cy="76829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71BB537-2331-71D5-E940-AB8357AC6E22}"/>
              </a:ext>
            </a:extLst>
          </p:cNvPr>
          <p:cNvSpPr/>
          <p:nvPr/>
        </p:nvSpPr>
        <p:spPr>
          <a:xfrm>
            <a:off x="3849952" y="4023261"/>
            <a:ext cx="4367002" cy="58579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a-DK" sz="1400" dirty="0">
              <a:solidFill>
                <a:schemeClr val="tx1"/>
              </a:solidFill>
            </a:endParaRPr>
          </a:p>
          <a:p>
            <a:pPr algn="ctr"/>
            <a:endParaRPr lang="da-DK" sz="1400" dirty="0">
              <a:solidFill>
                <a:schemeClr val="tx1"/>
              </a:solidFill>
            </a:endParaRPr>
          </a:p>
          <a:p>
            <a:pPr algn="ctr"/>
            <a:endParaRPr lang="da-DK" sz="1400" dirty="0">
              <a:solidFill>
                <a:schemeClr val="tx1"/>
              </a:solidFill>
            </a:endParaRPr>
          </a:p>
          <a:p>
            <a:r>
              <a:rPr lang="da-DK" sz="1400" dirty="0">
                <a:solidFill>
                  <a:schemeClr val="tx1"/>
                </a:solidFill>
              </a:rPr>
              <a:t>                                 Network </a:t>
            </a:r>
            <a:r>
              <a:rPr lang="da-DK" sz="1400" dirty="0" err="1">
                <a:solidFill>
                  <a:schemeClr val="tx1"/>
                </a:solidFill>
              </a:rPr>
              <a:t>analysis</a:t>
            </a:r>
            <a:endParaRPr lang="da-DK" sz="1400" dirty="0">
              <a:solidFill>
                <a:schemeClr val="tx1"/>
              </a:solidFill>
            </a:endParaRPr>
          </a:p>
          <a:p>
            <a:pPr algn="ctr"/>
            <a:r>
              <a:rPr lang="da-DK" sz="1200" dirty="0">
                <a:solidFill>
                  <a:schemeClr val="tx1"/>
                </a:solidFill>
              </a:rPr>
              <a:t>(1) Citation </a:t>
            </a:r>
            <a:r>
              <a:rPr lang="da-DK" sz="1200" dirty="0" err="1">
                <a:solidFill>
                  <a:schemeClr val="tx1"/>
                </a:solidFill>
              </a:rPr>
              <a:t>network</a:t>
            </a:r>
            <a:r>
              <a:rPr lang="da-DK" sz="1200" dirty="0">
                <a:solidFill>
                  <a:schemeClr val="tx1"/>
                </a:solidFill>
              </a:rPr>
              <a:t>                   (2) term label </a:t>
            </a:r>
            <a:r>
              <a:rPr lang="da-DK" sz="1200" dirty="0" err="1">
                <a:solidFill>
                  <a:schemeClr val="tx1"/>
                </a:solidFill>
              </a:rPr>
              <a:t>co-occurance</a:t>
            </a:r>
            <a:r>
              <a:rPr lang="da-DK" sz="1200" dirty="0">
                <a:solidFill>
                  <a:schemeClr val="tx1"/>
                </a:solidFill>
              </a:rPr>
              <a:t> </a:t>
            </a:r>
            <a:r>
              <a:rPr lang="da-DK" sz="1200" dirty="0" err="1">
                <a:solidFill>
                  <a:schemeClr val="tx1"/>
                </a:solidFill>
              </a:rPr>
              <a:t>network</a:t>
            </a:r>
            <a:endParaRPr lang="da-DK" sz="1200" dirty="0">
              <a:solidFill>
                <a:schemeClr val="tx1"/>
              </a:solidFill>
            </a:endParaRPr>
          </a:p>
          <a:p>
            <a:pPr algn="ctr"/>
            <a:endParaRPr lang="da-DK" sz="1400" dirty="0"/>
          </a:p>
          <a:p>
            <a:pPr algn="ctr"/>
            <a:endParaRPr lang="da-DK" sz="1400" dirty="0"/>
          </a:p>
          <a:p>
            <a:pPr algn="ctr"/>
            <a:endParaRPr lang="da-DK" sz="1400" dirty="0"/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7A5467DC-AA20-52F7-52EB-83FC40F882E9}"/>
              </a:ext>
            </a:extLst>
          </p:cNvPr>
          <p:cNvCxnSpPr>
            <a:cxnSpLocks/>
          </p:cNvCxnSpPr>
          <p:nvPr/>
        </p:nvCxnSpPr>
        <p:spPr>
          <a:xfrm>
            <a:off x="4387854" y="2610703"/>
            <a:ext cx="0" cy="369564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C26A1942-4967-33DA-3110-524502C357D2}"/>
              </a:ext>
            </a:extLst>
          </p:cNvPr>
          <p:cNvCxnSpPr>
            <a:cxnSpLocks/>
          </p:cNvCxnSpPr>
          <p:nvPr/>
        </p:nvCxnSpPr>
        <p:spPr>
          <a:xfrm>
            <a:off x="7848335" y="2610703"/>
            <a:ext cx="0" cy="369564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E0B9FD49-4D41-E387-4F6C-6C2644B68577}"/>
              </a:ext>
            </a:extLst>
          </p:cNvPr>
          <p:cNvCxnSpPr>
            <a:cxnSpLocks/>
          </p:cNvCxnSpPr>
          <p:nvPr/>
        </p:nvCxnSpPr>
        <p:spPr>
          <a:xfrm>
            <a:off x="5945720" y="3851817"/>
            <a:ext cx="0" cy="171444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09E86055-BACF-C34F-378C-1D5967BB1F71}"/>
              </a:ext>
            </a:extLst>
          </p:cNvPr>
          <p:cNvCxnSpPr>
            <a:cxnSpLocks/>
          </p:cNvCxnSpPr>
          <p:nvPr/>
        </p:nvCxnSpPr>
        <p:spPr>
          <a:xfrm>
            <a:off x="4771323" y="4619388"/>
            <a:ext cx="0" cy="369564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D16D8493-018D-62E5-ACC7-D7572A916C83}"/>
              </a:ext>
            </a:extLst>
          </p:cNvPr>
          <p:cNvCxnSpPr>
            <a:cxnSpLocks/>
          </p:cNvCxnSpPr>
          <p:nvPr/>
        </p:nvCxnSpPr>
        <p:spPr>
          <a:xfrm>
            <a:off x="7155990" y="4619388"/>
            <a:ext cx="0" cy="369564"/>
          </a:xfrm>
          <a:prstGeom prst="straightConnector1">
            <a:avLst/>
          </a:prstGeom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9310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24E51E-0867-17CB-D4DB-B257E3557C79}"/>
              </a:ext>
            </a:extLst>
          </p:cNvPr>
          <p:cNvSpPr txBox="1"/>
          <p:nvPr/>
        </p:nvSpPr>
        <p:spPr>
          <a:xfrm>
            <a:off x="676274" y="495300"/>
            <a:ext cx="862012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Retsinformation:</a:t>
            </a:r>
          </a:p>
          <a:p>
            <a:endParaRPr lang="da-DK" dirty="0"/>
          </a:p>
          <a:p>
            <a:r>
              <a:rPr lang="da-DK" dirty="0"/>
              <a:t>Search </a:t>
            </a:r>
            <a:r>
              <a:rPr lang="da-DK" dirty="0" err="1"/>
              <a:t>queries</a:t>
            </a:r>
            <a:r>
              <a:rPr lang="da-DK" dirty="0"/>
              <a:t> </a:t>
            </a:r>
            <a:r>
              <a:rPr lang="da-DK" dirty="0" err="1"/>
              <a:t>were</a:t>
            </a:r>
            <a:r>
              <a:rPr lang="da-DK" dirty="0"/>
              <a:t> filter </a:t>
            </a:r>
            <a:r>
              <a:rPr lang="da-DK" dirty="0" err="1"/>
              <a:t>only</a:t>
            </a:r>
            <a:r>
              <a:rPr lang="da-DK" dirty="0"/>
              <a:t> for ”regler” and </a:t>
            </a:r>
            <a:r>
              <a:rPr lang="da-DK" b="1" dirty="0"/>
              <a:t>not </a:t>
            </a:r>
            <a:r>
              <a:rPr lang="da-DK" b="1" dirty="0" err="1"/>
              <a:t>including</a:t>
            </a:r>
            <a:r>
              <a:rPr lang="da-DK" b="1" dirty="0"/>
              <a:t> </a:t>
            </a:r>
            <a:r>
              <a:rPr lang="da-DK" b="1" dirty="0" err="1"/>
              <a:t>historical</a:t>
            </a:r>
            <a:r>
              <a:rPr lang="da-DK" b="1" dirty="0"/>
              <a:t> </a:t>
            </a:r>
            <a:r>
              <a:rPr lang="da-DK" b="1" dirty="0" err="1"/>
              <a:t>documents</a:t>
            </a:r>
            <a:r>
              <a:rPr lang="da-DK" b="1" dirty="0"/>
              <a:t> *** </a:t>
            </a:r>
          </a:p>
          <a:p>
            <a:pPr marL="342900" indent="-342900">
              <a:buAutoNum type="arabicParenBoth"/>
            </a:pPr>
            <a:r>
              <a:rPr lang="da-DK" dirty="0"/>
              <a:t>”fiskeri”</a:t>
            </a:r>
          </a:p>
          <a:p>
            <a:pPr marL="342900" indent="-342900">
              <a:buAutoNum type="arabicParenBoth"/>
            </a:pPr>
            <a:r>
              <a:rPr lang="da-DK" dirty="0"/>
              <a:t>”jagt” </a:t>
            </a:r>
            <a:r>
              <a:rPr lang="da-DK" dirty="0">
                <a:sym typeface="Wingdings" panose="05000000000000000000" pitchFamily="2" charset="2"/>
              </a:rPr>
              <a:t> </a:t>
            </a:r>
            <a:r>
              <a:rPr lang="da-DK" dirty="0" err="1">
                <a:sym typeface="Wingdings" panose="05000000000000000000" pitchFamily="2" charset="2"/>
              </a:rPr>
              <a:t>then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within</a:t>
            </a:r>
            <a:r>
              <a:rPr lang="da-DK" dirty="0">
                <a:sym typeface="Wingdings" panose="05000000000000000000" pitchFamily="2" charset="2"/>
              </a:rPr>
              <a:t> the </a:t>
            </a:r>
            <a:r>
              <a:rPr lang="da-DK" dirty="0" err="1">
                <a:sym typeface="Wingdings" panose="05000000000000000000" pitchFamily="2" charset="2"/>
              </a:rPr>
              <a:t>text</a:t>
            </a:r>
            <a:r>
              <a:rPr lang="da-DK" dirty="0">
                <a:sym typeface="Wingdings" panose="05000000000000000000" pitchFamily="2" charset="2"/>
              </a:rPr>
              <a:t> I </a:t>
            </a:r>
            <a:r>
              <a:rPr lang="da-DK" dirty="0" err="1">
                <a:sym typeface="Wingdings" panose="05000000000000000000" pitchFamily="2" charset="2"/>
              </a:rPr>
              <a:t>detected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if</a:t>
            </a:r>
            <a:r>
              <a:rPr lang="da-DK" dirty="0">
                <a:sym typeface="Wingdings" panose="05000000000000000000" pitchFamily="2" charset="2"/>
              </a:rPr>
              <a:t> it </a:t>
            </a:r>
            <a:r>
              <a:rPr lang="da-DK" dirty="0" err="1">
                <a:sym typeface="Wingdings" panose="05000000000000000000" pitchFamily="2" charset="2"/>
              </a:rPr>
              <a:t>mentions</a:t>
            </a:r>
            <a:r>
              <a:rPr lang="da-DK" dirty="0">
                <a:sym typeface="Wingdings" panose="05000000000000000000" pitchFamily="2" charset="2"/>
              </a:rPr>
              <a:t> sæl or </a:t>
            </a:r>
            <a:r>
              <a:rPr lang="da-DK" dirty="0" err="1">
                <a:sym typeface="Wingdings" panose="05000000000000000000" pitchFamily="2" charset="2"/>
              </a:rPr>
              <a:t>fulgle</a:t>
            </a:r>
            <a:endParaRPr lang="da-DK" dirty="0"/>
          </a:p>
          <a:p>
            <a:pPr marL="342900" indent="-342900">
              <a:buAutoNum type="arabicParenBoth"/>
            </a:pPr>
            <a:r>
              <a:rPr lang="da-DK" dirty="0"/>
              <a:t>”</a:t>
            </a:r>
            <a:r>
              <a:rPr lang="da-DK" dirty="0" err="1"/>
              <a:t>søtrafik</a:t>
            </a:r>
            <a:r>
              <a:rPr lang="da-DK" dirty="0"/>
              <a:t>”</a:t>
            </a:r>
          </a:p>
          <a:p>
            <a:pPr marL="342900" indent="-342900">
              <a:buAutoNum type="arabicParenBoth"/>
            </a:pPr>
            <a:endParaRPr lang="da-DK" dirty="0"/>
          </a:p>
          <a:p>
            <a:r>
              <a:rPr lang="da-DK" dirty="0"/>
              <a:t>Total 1,211 </a:t>
            </a:r>
            <a:r>
              <a:rPr lang="da-DK" dirty="0" err="1"/>
              <a:t>documents</a:t>
            </a:r>
            <a:r>
              <a:rPr lang="da-DK" dirty="0"/>
              <a:t> pulled</a:t>
            </a:r>
          </a:p>
          <a:p>
            <a:endParaRPr lang="da-DK" dirty="0"/>
          </a:p>
          <a:p>
            <a:endParaRPr lang="da-DK" dirty="0"/>
          </a:p>
          <a:p>
            <a:endParaRPr lang="da-DK" dirty="0"/>
          </a:p>
          <a:p>
            <a:r>
              <a:rPr lang="da-DK" dirty="0" err="1"/>
              <a:t>Working</a:t>
            </a:r>
            <a:r>
              <a:rPr lang="da-DK" dirty="0"/>
              <a:t> on </a:t>
            </a:r>
            <a:r>
              <a:rPr lang="da-DK" dirty="0" err="1"/>
              <a:t>pulling</a:t>
            </a:r>
            <a:r>
              <a:rPr lang="da-DK" dirty="0"/>
              <a:t> the EUR-lex </a:t>
            </a:r>
            <a:r>
              <a:rPr lang="da-DK" dirty="0" err="1"/>
              <a:t>documents</a:t>
            </a:r>
            <a:r>
              <a:rPr lang="da-DK" dirty="0"/>
              <a:t> </a:t>
            </a:r>
            <a:r>
              <a:rPr lang="da-DK" dirty="0" err="1"/>
              <a:t>they</a:t>
            </a:r>
            <a:r>
              <a:rPr lang="da-DK" dirty="0"/>
              <a:t> link to…</a:t>
            </a:r>
          </a:p>
          <a:p>
            <a:endParaRPr lang="da-DK" dirty="0"/>
          </a:p>
          <a:p>
            <a:r>
              <a:rPr lang="da-DK" dirty="0"/>
              <a:t>Im a </a:t>
            </a:r>
            <a:r>
              <a:rPr lang="da-DK" dirty="0" err="1"/>
              <a:t>little</a:t>
            </a:r>
            <a:r>
              <a:rPr lang="da-DK" dirty="0"/>
              <a:t> </a:t>
            </a:r>
            <a:r>
              <a:rPr lang="da-DK" dirty="0" err="1"/>
              <a:t>confused</a:t>
            </a:r>
            <a:r>
              <a:rPr lang="da-DK" dirty="0"/>
              <a:t> </a:t>
            </a:r>
            <a:r>
              <a:rPr lang="da-DK" dirty="0" err="1"/>
              <a:t>how</a:t>
            </a:r>
            <a:r>
              <a:rPr lang="da-DK" dirty="0"/>
              <a:t> to </a:t>
            </a:r>
            <a:r>
              <a:rPr lang="da-DK" dirty="0" err="1"/>
              <a:t>get</a:t>
            </a:r>
            <a:r>
              <a:rPr lang="da-DK" dirty="0"/>
              <a:t> the </a:t>
            </a:r>
            <a:r>
              <a:rPr lang="da-DK" dirty="0" err="1"/>
              <a:t>results</a:t>
            </a:r>
            <a:r>
              <a:rPr lang="da-DK" dirty="0"/>
              <a:t> for the </a:t>
            </a:r>
            <a:r>
              <a:rPr lang="da-DK" dirty="0" err="1"/>
              <a:t>swedish</a:t>
            </a:r>
            <a:r>
              <a:rPr lang="da-DK" dirty="0"/>
              <a:t> </a:t>
            </a:r>
            <a:r>
              <a:rPr lang="da-DK" dirty="0" err="1"/>
              <a:t>searches</a:t>
            </a:r>
            <a:r>
              <a:rPr lang="da-DK" dirty="0"/>
              <a:t>… 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61501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1447</TotalTime>
  <Words>1153</Words>
  <Application>Microsoft Office PowerPoint</Application>
  <PresentationFormat>Widescreen</PresentationFormat>
  <Paragraphs>202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Lato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Anna Elizabeth Jorgensen</dc:creator>
  <cp:lastModifiedBy>Anna Elizabeth Jorgensen</cp:lastModifiedBy>
  <cp:revision>21</cp:revision>
  <dcterms:created xsi:type="dcterms:W3CDTF">2022-09-29T07:12:58Z</dcterms:created>
  <dcterms:modified xsi:type="dcterms:W3CDTF">2022-10-05T11:47:59Z</dcterms:modified>
</cp:coreProperties>
</file>