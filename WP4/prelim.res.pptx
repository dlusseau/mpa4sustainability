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6" r:id="rId11"/>
    <p:sldId id="263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46" autoAdjust="0"/>
    <p:restoredTop sz="94660"/>
  </p:normalViewPr>
  <p:slideViewPr>
    <p:cSldViewPr snapToGrid="0">
      <p:cViewPr varScale="1">
        <p:scale>
          <a:sx n="86" d="100"/>
          <a:sy n="86" d="100"/>
        </p:scale>
        <p:origin x="88" y="17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04-10-2022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3" y="1731812"/>
            <a:ext cx="1184248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 Results</a:t>
            </a:r>
            <a:r>
              <a:rPr lang="en-US" dirty="0"/>
              <a:t>:</a:t>
            </a:r>
          </a:p>
          <a:p>
            <a:r>
              <a:rPr lang="en-US" b="1" dirty="0"/>
              <a:t> </a:t>
            </a:r>
            <a:r>
              <a:rPr lang="en-US" b="1" dirty="0" err="1"/>
              <a:t>search.term</a:t>
            </a:r>
            <a:r>
              <a:rPr lang="en-US" b="1" dirty="0"/>
              <a:t>                              </a:t>
            </a:r>
            <a:r>
              <a:rPr lang="en-US" b="1" dirty="0" err="1"/>
              <a:t>nmbr</a:t>
            </a:r>
            <a:r>
              <a:rPr lang="en-US" b="1" dirty="0"/>
              <a:t>. of documents pulled.     </a:t>
            </a:r>
            <a:r>
              <a:rPr lang="en-US" b="1" dirty="0" err="1"/>
              <a:t>Nmbr</a:t>
            </a:r>
            <a:r>
              <a:rPr lang="en-US" b="1" dirty="0"/>
              <a:t>. Of </a:t>
            </a:r>
            <a:r>
              <a:rPr lang="en-US" b="1" dirty="0" err="1"/>
              <a:t>mpas</a:t>
            </a:r>
            <a:r>
              <a:rPr lang="en-US" b="1" dirty="0"/>
              <a:t>        </a:t>
            </a:r>
            <a:r>
              <a:rPr lang="en-US" b="1" dirty="0" err="1"/>
              <a:t>Nmbr</a:t>
            </a:r>
            <a:r>
              <a:rPr lang="en-US" b="1" dirty="0"/>
              <a:t>. Of EU countries linked via </a:t>
            </a:r>
            <a:r>
              <a:rPr lang="en-US" b="1" dirty="0" err="1"/>
              <a:t>mpa</a:t>
            </a:r>
            <a:r>
              <a:rPr lang="en-US" b="1" dirty="0"/>
              <a:t> </a:t>
            </a:r>
            <a:r>
              <a:rPr lang="en-US" b="1" dirty="0" err="1"/>
              <a:t>desig</a:t>
            </a:r>
            <a:r>
              <a:rPr lang="en-US" b="1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barcelona</a:t>
            </a:r>
            <a:r>
              <a:rPr lang="en-US" dirty="0"/>
              <a:t> convention*?               	37			24			4</a:t>
            </a:r>
          </a:p>
          <a:p>
            <a:r>
              <a:rPr lang="en-US" dirty="0"/>
              <a:t> birds directive*?                            	6			843			23</a:t>
            </a:r>
          </a:p>
          <a:p>
            <a:r>
              <a:rPr lang="en-US" dirty="0"/>
              <a:t> habitats directive*?                      	56			1869			22</a:t>
            </a:r>
          </a:p>
          <a:p>
            <a:r>
              <a:rPr lang="en-US" dirty="0"/>
              <a:t> </a:t>
            </a:r>
            <a:r>
              <a:rPr lang="en-US" dirty="0" err="1"/>
              <a:t>helcom</a:t>
            </a:r>
            <a:r>
              <a:rPr lang="en-US" dirty="0"/>
              <a:t>*?                                       	12			163			8</a:t>
            </a:r>
          </a:p>
          <a:p>
            <a:r>
              <a:rPr lang="en-US" dirty="0"/>
              <a:t> marine protected area*?            	18			441 			10</a:t>
            </a:r>
          </a:p>
          <a:p>
            <a:r>
              <a:rPr lang="en-US" dirty="0"/>
              <a:t> </a:t>
            </a:r>
            <a:r>
              <a:rPr lang="en-US" dirty="0" err="1"/>
              <a:t>ospar</a:t>
            </a:r>
            <a:r>
              <a:rPr lang="en-US" dirty="0"/>
              <a:t>*?                                          	19			441			10</a:t>
            </a:r>
          </a:p>
          <a:p>
            <a:r>
              <a:rPr lang="en-US" dirty="0"/>
              <a:t> </a:t>
            </a:r>
            <a:r>
              <a:rPr lang="en-US" dirty="0" err="1"/>
              <a:t>ramsar</a:t>
            </a:r>
            <a:r>
              <a:rPr lang="en-US" dirty="0"/>
              <a:t> site*?                                	1			237			18</a:t>
            </a:r>
          </a:p>
          <a:p>
            <a:r>
              <a:rPr lang="en-US" dirty="0"/>
              <a:t> sites of community importance*?         5			481			18</a:t>
            </a:r>
          </a:p>
          <a:p>
            <a:r>
              <a:rPr lang="en-US" dirty="0"/>
              <a:t> special areas of conservation*?    	16			1388			19</a:t>
            </a:r>
          </a:p>
          <a:p>
            <a:r>
              <a:rPr lang="en-US" dirty="0"/>
              <a:t> special protection area*?           	7			843			23</a:t>
            </a:r>
          </a:p>
          <a:p>
            <a:r>
              <a:rPr lang="en-US" dirty="0"/>
              <a:t> world heritage site*?               	2			9			4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4113344" y="213136"/>
            <a:ext cx="807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4756A-6B1F-B0BE-66FA-268FDD5CAE98}"/>
              </a:ext>
            </a:extLst>
          </p:cNvPr>
          <p:cNvSpPr txBox="1"/>
          <p:nvPr/>
        </p:nvSpPr>
        <p:spPr>
          <a:xfrm>
            <a:off x="1672552" y="936010"/>
            <a:ext cx="4773573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I have for the text data for both queries</a:t>
            </a:r>
          </a:p>
          <a:p>
            <a:endParaRPr lang="en-US" b="1" dirty="0"/>
          </a:p>
          <a:p>
            <a:endParaRPr lang="en-US" sz="1600" b="1" dirty="0"/>
          </a:p>
          <a:p>
            <a:r>
              <a:rPr lang="en-US" sz="1600" dirty="0"/>
              <a:t>Extracted title and body and combined them and cleaned up the text data </a:t>
            </a:r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da-DK" dirty="0"/>
              <a:t>Will start </a:t>
            </a:r>
            <a:r>
              <a:rPr lang="da-DK" dirty="0" err="1"/>
              <a:t>trying</a:t>
            </a:r>
            <a:r>
              <a:rPr lang="da-DK" dirty="0"/>
              <a:t> to </a:t>
            </a:r>
            <a:r>
              <a:rPr lang="da-DK" dirty="0" err="1"/>
              <a:t>pulling</a:t>
            </a:r>
            <a:r>
              <a:rPr lang="da-DK" dirty="0"/>
              <a:t> the </a:t>
            </a:r>
            <a:r>
              <a:rPr lang="da-DK" dirty="0" err="1"/>
              <a:t>sentence</a:t>
            </a:r>
            <a:r>
              <a:rPr lang="da-DK" dirty="0"/>
              <a:t>/</a:t>
            </a:r>
            <a:r>
              <a:rPr lang="da-DK" dirty="0" err="1"/>
              <a:t>paragraph</a:t>
            </a:r>
            <a:r>
              <a:rPr lang="da-DK" dirty="0"/>
              <a:t> the citation is </a:t>
            </a:r>
            <a:r>
              <a:rPr lang="da-DK" dirty="0" err="1"/>
              <a:t>located</a:t>
            </a:r>
            <a:r>
              <a:rPr lang="da-DK" dirty="0"/>
              <a:t> </a:t>
            </a:r>
            <a:r>
              <a:rPr lang="da-DK" dirty="0" err="1"/>
              <a:t>within</a:t>
            </a:r>
            <a:endParaRPr lang="da-DK" dirty="0"/>
          </a:p>
          <a:p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304A0-57D4-2ED2-E90F-0280FCA7DFB5}"/>
              </a:ext>
            </a:extLst>
          </p:cNvPr>
          <p:cNvSpPr txBox="1"/>
          <p:nvPr/>
        </p:nvSpPr>
        <p:spPr>
          <a:xfrm>
            <a:off x="6604440" y="1561000"/>
            <a:ext cx="42007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EUR-Lex Corpus: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EUR-Lex result Documents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Meta data includes 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year/date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enforced(True/False/NA)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Type of leg. (dir., rec., </a:t>
            </a:r>
            <a:r>
              <a:rPr lang="en-US" sz="1600" dirty="0" err="1">
                <a:sym typeface="Wingdings" pitchFamily="2" charset="2"/>
              </a:rPr>
              <a:t>opin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 for the second query we also have the MPA design. Search term (i.e. bird directive, </a:t>
            </a:r>
            <a:r>
              <a:rPr lang="en-US" sz="1600" dirty="0" err="1">
                <a:sym typeface="Wingdings" pitchFamily="2" charset="2"/>
              </a:rPr>
              <a:t>helcom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1427D44-474C-DF99-99AC-1BBC6432CF7F}"/>
              </a:ext>
            </a:extLst>
          </p:cNvPr>
          <p:cNvSpPr/>
          <p:nvPr/>
        </p:nvSpPr>
        <p:spPr>
          <a:xfrm>
            <a:off x="5515960" y="1561000"/>
            <a:ext cx="785648" cy="1477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2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>
            <a:extLst>
              <a:ext uri="{FF2B5EF4-FFF2-40B4-BE49-F238E27FC236}">
                <a16:creationId xmlns:a16="http://schemas.microsoft.com/office/drawing/2014/main" id="{BE57B42F-2AA8-F870-9491-3BD31AA45EE9}"/>
              </a:ext>
            </a:extLst>
          </p:cNvPr>
          <p:cNvSpPr/>
          <p:nvPr/>
        </p:nvSpPr>
        <p:spPr>
          <a:xfrm>
            <a:off x="3849952" y="3027513"/>
            <a:ext cx="4367002" cy="8243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1"/>
                </a:solidFill>
              </a:rPr>
              <a:t>link </a:t>
            </a:r>
            <a:r>
              <a:rPr lang="da-DK" sz="1400" dirty="0" err="1">
                <a:solidFill>
                  <a:schemeClr val="tx1"/>
                </a:solidFill>
              </a:rPr>
              <a:t>associated</a:t>
            </a:r>
            <a:r>
              <a:rPr lang="da-DK" sz="1400" dirty="0">
                <a:solidFill>
                  <a:schemeClr val="tx1"/>
                </a:solidFill>
              </a:rPr>
              <a:t> </a:t>
            </a:r>
            <a:r>
              <a:rPr lang="da-DK" sz="1400" dirty="0" err="1">
                <a:solidFill>
                  <a:schemeClr val="tx1"/>
                </a:solidFill>
              </a:rPr>
              <a:t>document</a:t>
            </a:r>
            <a:r>
              <a:rPr lang="da-DK" sz="1400" dirty="0">
                <a:solidFill>
                  <a:schemeClr val="tx1"/>
                </a:solidFill>
              </a:rPr>
              <a:t> data</a:t>
            </a: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7DDDF4-A54E-5A7F-5900-89E3A9DC9AF1}"/>
              </a:ext>
            </a:extLst>
          </p:cNvPr>
          <p:cNvSpPr/>
          <p:nvPr/>
        </p:nvSpPr>
        <p:spPr>
          <a:xfrm>
            <a:off x="4474408" y="94638"/>
            <a:ext cx="3015855" cy="761227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400" dirty="0"/>
              <a:t>EUR-Lex Database</a:t>
            </a:r>
          </a:p>
          <a:p>
            <a:pPr algn="ctr"/>
            <a:r>
              <a:rPr lang="da-DK" sz="1400" dirty="0" err="1"/>
              <a:t>Extract</a:t>
            </a:r>
            <a:r>
              <a:rPr lang="da-DK" sz="1400" dirty="0"/>
              <a:t> EU </a:t>
            </a:r>
            <a:r>
              <a:rPr lang="da-DK" sz="1400" dirty="0" err="1"/>
              <a:t>legislation</a:t>
            </a:r>
            <a:r>
              <a:rPr lang="da-DK" sz="1400" dirty="0"/>
              <a:t> </a:t>
            </a:r>
            <a:r>
              <a:rPr lang="da-DK" sz="1400" dirty="0" err="1"/>
              <a:t>which</a:t>
            </a:r>
            <a:r>
              <a:rPr lang="da-DK" sz="1400" dirty="0"/>
              <a:t> </a:t>
            </a:r>
            <a:r>
              <a:rPr lang="da-DK" sz="1400" dirty="0" err="1"/>
              <a:t>mentions</a:t>
            </a:r>
            <a:r>
              <a:rPr lang="da-DK" sz="1400" dirty="0"/>
              <a:t>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AEBC7A-F189-D7F1-AB86-BBD0E403EDA6}"/>
              </a:ext>
            </a:extLst>
          </p:cNvPr>
          <p:cNvSpPr txBox="1"/>
          <p:nvPr/>
        </p:nvSpPr>
        <p:spPr>
          <a:xfrm>
            <a:off x="6061184" y="1550631"/>
            <a:ext cx="35174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(2) A query for every official MPA designation title (i.e., world heritage site, Ramsar site, etc.) within the EU and the UK.</a:t>
            </a:r>
          </a:p>
          <a:p>
            <a:endParaRPr lang="da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3D803-871E-635A-0271-AE22C442A14B}"/>
              </a:ext>
            </a:extLst>
          </p:cNvPr>
          <p:cNvSpPr txBox="1"/>
          <p:nvPr/>
        </p:nvSpPr>
        <p:spPr>
          <a:xfrm>
            <a:off x="3572850" y="1537838"/>
            <a:ext cx="160531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(1) ”marine protected”</a:t>
            </a:r>
          </a:p>
          <a:p>
            <a:endParaRPr lang="da-DK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3B5DCF-8F9F-4825-B866-148CB5E081F2}"/>
              </a:ext>
            </a:extLst>
          </p:cNvPr>
          <p:cNvCxnSpPr>
            <a:cxnSpLocks/>
          </p:cNvCxnSpPr>
          <p:nvPr/>
        </p:nvCxnSpPr>
        <p:spPr>
          <a:xfrm flipH="1">
            <a:off x="4488196" y="845273"/>
            <a:ext cx="503539" cy="658153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F6D07F-CCF1-8AA0-915F-8F5A6FCF99FD}"/>
              </a:ext>
            </a:extLst>
          </p:cNvPr>
          <p:cNvCxnSpPr/>
          <p:nvPr/>
        </p:nvCxnSpPr>
        <p:spPr>
          <a:xfrm>
            <a:off x="6994317" y="900335"/>
            <a:ext cx="495946" cy="61524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FD0B1-2588-6288-41A4-880E2D643C58}"/>
              </a:ext>
            </a:extLst>
          </p:cNvPr>
          <p:cNvSpPr txBox="1"/>
          <p:nvPr/>
        </p:nvSpPr>
        <p:spPr>
          <a:xfrm>
            <a:off x="3781254" y="2394144"/>
            <a:ext cx="24874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24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3A450B-B5C5-DA5F-A168-14CAEDFF9548}"/>
              </a:ext>
            </a:extLst>
          </p:cNvPr>
          <p:cNvSpPr txBox="1"/>
          <p:nvPr/>
        </p:nvSpPr>
        <p:spPr>
          <a:xfrm>
            <a:off x="7026987" y="2410117"/>
            <a:ext cx="3029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179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8E9009-5BE1-D17E-6D60-8F5FA34947C6}"/>
              </a:ext>
            </a:extLst>
          </p:cNvPr>
          <p:cNvCxnSpPr>
            <a:cxnSpLocks/>
          </p:cNvCxnSpPr>
          <p:nvPr/>
        </p:nvCxnSpPr>
        <p:spPr>
          <a:xfrm>
            <a:off x="4375505" y="1814837"/>
            <a:ext cx="0" cy="595280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AD43DA-1E6E-F6CD-F77E-F21EC0A390C7}"/>
              </a:ext>
            </a:extLst>
          </p:cNvPr>
          <p:cNvCxnSpPr>
            <a:cxnSpLocks/>
          </p:cNvCxnSpPr>
          <p:nvPr/>
        </p:nvCxnSpPr>
        <p:spPr>
          <a:xfrm>
            <a:off x="7848335" y="2012000"/>
            <a:ext cx="0" cy="36033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" name="Graphic 19" descr="Network outline">
            <a:extLst>
              <a:ext uri="{FF2B5EF4-FFF2-40B4-BE49-F238E27FC236}">
                <a16:creationId xmlns:a16="http://schemas.microsoft.com/office/drawing/2014/main" id="{5963E2ED-20B0-066E-25EF-D003BF15C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1727" y="5115543"/>
            <a:ext cx="758746" cy="758746"/>
          </a:xfrm>
          <a:prstGeom prst="rect">
            <a:avLst/>
          </a:prstGeom>
        </p:spPr>
      </p:pic>
      <p:pic>
        <p:nvPicPr>
          <p:cNvPr id="21" name="Graphic 20" descr="Network outline">
            <a:extLst>
              <a:ext uri="{FF2B5EF4-FFF2-40B4-BE49-F238E27FC236}">
                <a16:creationId xmlns:a16="http://schemas.microsoft.com/office/drawing/2014/main" id="{E818E953-21FE-8075-9BB6-1E685AF44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387264">
            <a:off x="4568106" y="5038841"/>
            <a:ext cx="758746" cy="758746"/>
          </a:xfrm>
          <a:prstGeom prst="rect">
            <a:avLst/>
          </a:prstGeom>
        </p:spPr>
      </p:pic>
      <p:pic>
        <p:nvPicPr>
          <p:cNvPr id="22" name="Graphic 21" descr="Network outline">
            <a:extLst>
              <a:ext uri="{FF2B5EF4-FFF2-40B4-BE49-F238E27FC236}">
                <a16:creationId xmlns:a16="http://schemas.microsoft.com/office/drawing/2014/main" id="{38DC20BC-1239-9ACB-48E3-110C917AD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62809">
            <a:off x="4581465" y="5500602"/>
            <a:ext cx="758746" cy="758746"/>
          </a:xfrm>
          <a:prstGeom prst="rect">
            <a:avLst/>
          </a:prstGeom>
        </p:spPr>
      </p:pic>
      <p:pic>
        <p:nvPicPr>
          <p:cNvPr id="23" name="Graphic 22" descr="Network outline">
            <a:extLst>
              <a:ext uri="{FF2B5EF4-FFF2-40B4-BE49-F238E27FC236}">
                <a16:creationId xmlns:a16="http://schemas.microsoft.com/office/drawing/2014/main" id="{D0A86861-D495-DB17-7D84-8B35E5964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934484">
            <a:off x="3736184" y="5493303"/>
            <a:ext cx="758746" cy="7587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6383C48-3A42-034B-37F1-1035DD34A8B0}"/>
              </a:ext>
            </a:extLst>
          </p:cNvPr>
          <p:cNvSpPr txBox="1"/>
          <p:nvPr/>
        </p:nvSpPr>
        <p:spPr>
          <a:xfrm>
            <a:off x="3849952" y="3305784"/>
            <a:ext cx="26863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(1) </a:t>
            </a:r>
            <a:r>
              <a:rPr lang="da-DK" sz="1200" dirty="0" err="1"/>
              <a:t>Extract</a:t>
            </a:r>
            <a:r>
              <a:rPr lang="da-DK" sz="1200" dirty="0"/>
              <a:t> </a:t>
            </a:r>
            <a:r>
              <a:rPr lang="da-DK" sz="1200" dirty="0" err="1"/>
              <a:t>document</a:t>
            </a:r>
            <a:r>
              <a:rPr lang="da-DK" sz="1200" dirty="0"/>
              <a:t> citations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FF6B7E-1969-6D0E-135B-FB7AFD71521B}"/>
              </a:ext>
            </a:extLst>
          </p:cNvPr>
          <p:cNvSpPr txBox="1"/>
          <p:nvPr/>
        </p:nvSpPr>
        <p:spPr>
          <a:xfrm>
            <a:off x="6045075" y="3306932"/>
            <a:ext cx="255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(2) </a:t>
            </a:r>
            <a:r>
              <a:rPr lang="da-DK" sz="1200" dirty="0" err="1"/>
              <a:t>Attach</a:t>
            </a:r>
            <a:r>
              <a:rPr lang="da-DK" sz="1200" dirty="0"/>
              <a:t> </a:t>
            </a:r>
            <a:r>
              <a:rPr lang="da-DK" sz="1200" dirty="0" err="1"/>
              <a:t>documents</a:t>
            </a:r>
            <a:r>
              <a:rPr lang="da-DK" sz="1200" dirty="0"/>
              <a:t> to </a:t>
            </a:r>
            <a:r>
              <a:rPr lang="da-DK" sz="1200" dirty="0" err="1"/>
              <a:t>their</a:t>
            </a:r>
            <a:r>
              <a:rPr lang="da-DK" sz="1200" dirty="0"/>
              <a:t> </a:t>
            </a:r>
            <a:r>
              <a:rPr lang="da-DK" sz="1200" dirty="0" err="1"/>
              <a:t>assigned</a:t>
            </a:r>
            <a:r>
              <a:rPr lang="da-DK" sz="1200" dirty="0"/>
              <a:t> EU labels and </a:t>
            </a:r>
            <a:r>
              <a:rPr lang="da-DK" sz="1200" dirty="0" err="1"/>
              <a:t>themes</a:t>
            </a:r>
            <a:r>
              <a:rPr lang="da-DK" sz="1200" dirty="0"/>
              <a:t>.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CCC681D-4C4E-4743-9009-74C3290129FA}"/>
              </a:ext>
            </a:extLst>
          </p:cNvPr>
          <p:cNvSpPr/>
          <p:nvPr/>
        </p:nvSpPr>
        <p:spPr>
          <a:xfrm>
            <a:off x="5218812" y="5892035"/>
            <a:ext cx="1631245" cy="391130"/>
          </a:xfrm>
          <a:prstGeom prst="ellipse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900" b="1" dirty="0" err="1">
                <a:solidFill>
                  <a:schemeClr val="tx1"/>
                </a:solidFill>
              </a:rPr>
              <a:t>plasic</a:t>
            </a:r>
            <a:endParaRPr lang="da-DK" sz="900" b="1" dirty="0">
              <a:solidFill>
                <a:schemeClr val="tx1"/>
              </a:solidFill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B81F1DE-5134-FD19-541D-ACFB02548FEA}"/>
              </a:ext>
            </a:extLst>
          </p:cNvPr>
          <p:cNvGrpSpPr/>
          <p:nvPr/>
        </p:nvGrpSpPr>
        <p:grpSpPr>
          <a:xfrm rot="693841">
            <a:off x="5858291" y="4866521"/>
            <a:ext cx="3030101" cy="1968416"/>
            <a:chOff x="7837310" y="4395277"/>
            <a:chExt cx="3594651" cy="2410457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9C3B61E-533A-0762-9568-1DCA0FC5478E}"/>
                </a:ext>
              </a:extLst>
            </p:cNvPr>
            <p:cNvSpPr/>
            <p:nvPr/>
          </p:nvSpPr>
          <p:spPr>
            <a:xfrm>
              <a:off x="7947377" y="5499217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sustainable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development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FF5FDCD-0B60-918B-2F18-740B41BA83F0}"/>
                </a:ext>
              </a:extLst>
            </p:cNvPr>
            <p:cNvSpPr/>
            <p:nvPr/>
          </p:nvSpPr>
          <p:spPr>
            <a:xfrm>
              <a:off x="8042528" y="479408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catch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quota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AEBBAC2-934C-6DFE-1EA9-4C1210EDC5C1}"/>
                </a:ext>
              </a:extLst>
            </p:cNvPr>
            <p:cNvSpPr/>
            <p:nvPr/>
          </p:nvSpPr>
          <p:spPr>
            <a:xfrm>
              <a:off x="9087555" y="5873496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oil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spills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A4397AB-CFE2-8573-E149-CA76CE73ED2F}"/>
                </a:ext>
              </a:extLst>
            </p:cNvPr>
            <p:cNvSpPr/>
            <p:nvPr/>
          </p:nvSpPr>
          <p:spPr>
            <a:xfrm>
              <a:off x="8523109" y="609087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gas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F47DFF4-5CAC-C108-BD7F-E3EEF2FF9A28}"/>
                </a:ext>
              </a:extLst>
            </p:cNvPr>
            <p:cNvSpPr/>
            <p:nvPr/>
          </p:nvSpPr>
          <p:spPr>
            <a:xfrm>
              <a:off x="9137494" y="4395277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indiginous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communities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1253534-EE7D-4041-E38D-41B055140DE0}"/>
                </a:ext>
              </a:extLst>
            </p:cNvPr>
            <p:cNvSpPr/>
            <p:nvPr/>
          </p:nvSpPr>
          <p:spPr>
            <a:xfrm>
              <a:off x="9137494" y="527503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fishing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fleet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105E0D5-3863-CFFD-45C8-7E07715FEE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8766" y="4833253"/>
              <a:ext cx="710723" cy="68149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19C0E46-5103-25BC-0B6D-9FBAD9044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26222" y="6181231"/>
              <a:ext cx="313267" cy="1052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AE991B7D-4EBD-CF49-7781-DD825CFE10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6044" y="5897825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0D8D6BA-B16F-7848-DFC3-BBD88372D500}"/>
                </a:ext>
              </a:extLst>
            </p:cNvPr>
            <p:cNvSpPr/>
            <p:nvPr/>
          </p:nvSpPr>
          <p:spPr>
            <a:xfrm>
              <a:off x="7837310" y="6414604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marine pollution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5B0A37F-A66D-74D1-E535-BE514A1F8E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7572" y="6327035"/>
              <a:ext cx="253569" cy="1924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50CAF3C-A290-E4A1-4E92-A97987FB60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56994" y="5854040"/>
              <a:ext cx="280500" cy="3430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112C186-2A84-E1FF-6573-4E5CE44ABD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2146" y="6363360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7FF44C2-B218-E905-8077-C0A3DD823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21889" y="5897825"/>
              <a:ext cx="25395" cy="47858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C6B8F40-E1F6-39C2-C27E-A03F1DF489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05528" y="5828029"/>
              <a:ext cx="425174" cy="152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FF64CA8-E40D-9146-5C45-414E9C611635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V="1">
              <a:off x="8686800" y="5104171"/>
              <a:ext cx="11095" cy="39504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1A9D9DD-F0E1-9615-8ECA-CE1AB9A84A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10764" y="4752216"/>
              <a:ext cx="223027" cy="13197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115BAC95-0ED4-582B-2AA0-9BE978DA5FCF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9884879" y="4786407"/>
              <a:ext cx="68238" cy="5628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00DD077-04A5-315C-EF66-77374B0BB0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76577" y="5075331"/>
              <a:ext cx="474537" cy="2739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3211C92-5469-ABA2-9B16-C0DBA90AF7F8}"/>
                </a:ext>
              </a:extLst>
            </p:cNvPr>
            <p:cNvSpPr/>
            <p:nvPr/>
          </p:nvSpPr>
          <p:spPr>
            <a:xfrm>
              <a:off x="9953116" y="480822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international </a:t>
              </a:r>
              <a:r>
                <a:rPr lang="da-DK" sz="900" b="1" dirty="0" err="1">
                  <a:solidFill>
                    <a:schemeClr val="tx1"/>
                  </a:solidFill>
                </a:rPr>
                <a:t>waters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BAE7961-9ED8-A96B-242C-101AC875D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62531" y="4992595"/>
              <a:ext cx="1070074" cy="1119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A7A93A4-056C-E467-E938-B057921D33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65645" y="5178363"/>
              <a:ext cx="285951" cy="1876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8C63428-75ED-37C1-9368-1B3A79B1A2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8507" y="5257295"/>
              <a:ext cx="624096" cy="7682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71BB537-2331-71D5-E940-AB8357AC6E22}"/>
              </a:ext>
            </a:extLst>
          </p:cNvPr>
          <p:cNvSpPr/>
          <p:nvPr/>
        </p:nvSpPr>
        <p:spPr>
          <a:xfrm>
            <a:off x="3849952" y="4023261"/>
            <a:ext cx="4367002" cy="58579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r>
              <a:rPr lang="da-DK" sz="1400" dirty="0">
                <a:solidFill>
                  <a:schemeClr val="tx1"/>
                </a:solidFill>
              </a:rPr>
              <a:t>                                 Network </a:t>
            </a:r>
            <a:r>
              <a:rPr lang="da-DK" sz="1400" dirty="0" err="1">
                <a:solidFill>
                  <a:schemeClr val="tx1"/>
                </a:solidFill>
              </a:rPr>
              <a:t>analysis</a:t>
            </a:r>
            <a:endParaRPr lang="da-DK" sz="1400" dirty="0">
              <a:solidFill>
                <a:schemeClr val="tx1"/>
              </a:solidFill>
            </a:endParaRPr>
          </a:p>
          <a:p>
            <a:pPr algn="ctr"/>
            <a:r>
              <a:rPr lang="da-DK" sz="1200" dirty="0">
                <a:solidFill>
                  <a:schemeClr val="tx1"/>
                </a:solidFill>
              </a:rPr>
              <a:t>(1) Citation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r>
              <a:rPr lang="da-DK" sz="1200" dirty="0">
                <a:solidFill>
                  <a:schemeClr val="tx1"/>
                </a:solidFill>
              </a:rPr>
              <a:t>                   (2) term label </a:t>
            </a:r>
            <a:r>
              <a:rPr lang="da-DK" sz="1200" dirty="0" err="1">
                <a:solidFill>
                  <a:schemeClr val="tx1"/>
                </a:solidFill>
              </a:rPr>
              <a:t>co-occurance</a:t>
            </a:r>
            <a:r>
              <a:rPr lang="da-DK" sz="1200" dirty="0">
                <a:solidFill>
                  <a:schemeClr val="tx1"/>
                </a:solidFill>
              </a:rPr>
              <a:t>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endParaRPr lang="da-DK" sz="1200" dirty="0">
              <a:solidFill>
                <a:schemeClr val="tx1"/>
              </a:solidFill>
            </a:endParaRP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A5467DC-AA20-52F7-52EB-83FC40F882E9}"/>
              </a:ext>
            </a:extLst>
          </p:cNvPr>
          <p:cNvCxnSpPr>
            <a:cxnSpLocks/>
          </p:cNvCxnSpPr>
          <p:nvPr/>
        </p:nvCxnSpPr>
        <p:spPr>
          <a:xfrm>
            <a:off x="4387854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26A1942-4967-33DA-3110-524502C357D2}"/>
              </a:ext>
            </a:extLst>
          </p:cNvPr>
          <p:cNvCxnSpPr>
            <a:cxnSpLocks/>
          </p:cNvCxnSpPr>
          <p:nvPr/>
        </p:nvCxnSpPr>
        <p:spPr>
          <a:xfrm>
            <a:off x="7848335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0B9FD49-4D41-E387-4F6C-6C2644B68577}"/>
              </a:ext>
            </a:extLst>
          </p:cNvPr>
          <p:cNvCxnSpPr>
            <a:cxnSpLocks/>
          </p:cNvCxnSpPr>
          <p:nvPr/>
        </p:nvCxnSpPr>
        <p:spPr>
          <a:xfrm>
            <a:off x="5945720" y="3851817"/>
            <a:ext cx="0" cy="17144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09E86055-BACF-C34F-378C-1D5967BB1F71}"/>
              </a:ext>
            </a:extLst>
          </p:cNvPr>
          <p:cNvCxnSpPr>
            <a:cxnSpLocks/>
          </p:cNvCxnSpPr>
          <p:nvPr/>
        </p:nvCxnSpPr>
        <p:spPr>
          <a:xfrm>
            <a:off x="4771323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16D8493-018D-62E5-ACC7-D7572A916C83}"/>
              </a:ext>
            </a:extLst>
          </p:cNvPr>
          <p:cNvCxnSpPr>
            <a:cxnSpLocks/>
          </p:cNvCxnSpPr>
          <p:nvPr/>
        </p:nvCxnSpPr>
        <p:spPr>
          <a:xfrm>
            <a:off x="7155990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310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24E51E-0867-17CB-D4DB-B257E3557C79}"/>
              </a:ext>
            </a:extLst>
          </p:cNvPr>
          <p:cNvSpPr txBox="1"/>
          <p:nvPr/>
        </p:nvSpPr>
        <p:spPr>
          <a:xfrm>
            <a:off x="676274" y="495300"/>
            <a:ext cx="86201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Retsinformation:</a:t>
            </a:r>
          </a:p>
          <a:p>
            <a:endParaRPr lang="da-DK" dirty="0"/>
          </a:p>
          <a:p>
            <a:r>
              <a:rPr lang="da-DK" dirty="0"/>
              <a:t>Search </a:t>
            </a:r>
            <a:r>
              <a:rPr lang="da-DK" dirty="0" err="1"/>
              <a:t>queries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filter </a:t>
            </a:r>
            <a:r>
              <a:rPr lang="da-DK" dirty="0" err="1"/>
              <a:t>only</a:t>
            </a:r>
            <a:r>
              <a:rPr lang="da-DK" dirty="0"/>
              <a:t> for ”regler” and </a:t>
            </a:r>
            <a:r>
              <a:rPr lang="da-DK" b="1" dirty="0"/>
              <a:t>not </a:t>
            </a:r>
            <a:r>
              <a:rPr lang="da-DK" b="1" dirty="0" err="1"/>
              <a:t>including</a:t>
            </a:r>
            <a:r>
              <a:rPr lang="da-DK" b="1" dirty="0"/>
              <a:t> </a:t>
            </a:r>
            <a:r>
              <a:rPr lang="da-DK" b="1" dirty="0" err="1"/>
              <a:t>historical</a:t>
            </a:r>
            <a:r>
              <a:rPr lang="da-DK" b="1" dirty="0"/>
              <a:t> </a:t>
            </a:r>
            <a:r>
              <a:rPr lang="da-DK" b="1" dirty="0" err="1"/>
              <a:t>documents</a:t>
            </a:r>
            <a:r>
              <a:rPr lang="da-DK" b="1" dirty="0"/>
              <a:t> *** </a:t>
            </a:r>
          </a:p>
          <a:p>
            <a:pPr marL="342900" indent="-342900">
              <a:buAutoNum type="arabicParenBoth"/>
            </a:pPr>
            <a:r>
              <a:rPr lang="da-DK" dirty="0"/>
              <a:t>”fiskeri”</a:t>
            </a:r>
          </a:p>
          <a:p>
            <a:pPr marL="342900" indent="-342900">
              <a:buAutoNum type="arabicParenBoth"/>
            </a:pPr>
            <a:r>
              <a:rPr lang="da-DK" dirty="0"/>
              <a:t>”jagt”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within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text</a:t>
            </a:r>
            <a:r>
              <a:rPr lang="da-DK" dirty="0">
                <a:sym typeface="Wingdings" panose="05000000000000000000" pitchFamily="2" charset="2"/>
              </a:rPr>
              <a:t> I </a:t>
            </a:r>
            <a:r>
              <a:rPr lang="da-DK" dirty="0" err="1">
                <a:sym typeface="Wingdings" panose="05000000000000000000" pitchFamily="2" charset="2"/>
              </a:rPr>
              <a:t>detected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it </a:t>
            </a:r>
            <a:r>
              <a:rPr lang="da-DK" dirty="0" err="1">
                <a:sym typeface="Wingdings" panose="05000000000000000000" pitchFamily="2" charset="2"/>
              </a:rPr>
              <a:t>mentions</a:t>
            </a:r>
            <a:r>
              <a:rPr lang="da-DK" dirty="0">
                <a:sym typeface="Wingdings" panose="05000000000000000000" pitchFamily="2" charset="2"/>
              </a:rPr>
              <a:t> sæl or </a:t>
            </a:r>
            <a:r>
              <a:rPr lang="da-DK" dirty="0" err="1">
                <a:sym typeface="Wingdings" panose="05000000000000000000" pitchFamily="2" charset="2"/>
              </a:rPr>
              <a:t>fulgle</a:t>
            </a:r>
            <a:endParaRPr lang="da-DK" dirty="0"/>
          </a:p>
          <a:p>
            <a:pPr marL="342900" indent="-342900">
              <a:buAutoNum type="arabicParenBoth"/>
            </a:pPr>
            <a:r>
              <a:rPr lang="da-DK" dirty="0"/>
              <a:t>”</a:t>
            </a:r>
            <a:r>
              <a:rPr lang="da-DK" dirty="0" err="1"/>
              <a:t>søtrafik</a:t>
            </a:r>
            <a:r>
              <a:rPr lang="da-DK" dirty="0"/>
              <a:t>”</a:t>
            </a:r>
          </a:p>
          <a:p>
            <a:pPr marL="342900" indent="-342900">
              <a:buAutoNum type="arabicParenBoth"/>
            </a:pPr>
            <a:endParaRPr lang="da-DK" dirty="0"/>
          </a:p>
          <a:p>
            <a:r>
              <a:rPr lang="da-DK" dirty="0"/>
              <a:t>Total 1,211 </a:t>
            </a:r>
            <a:r>
              <a:rPr lang="da-DK" dirty="0" err="1"/>
              <a:t>documents</a:t>
            </a:r>
            <a:r>
              <a:rPr lang="da-DK" dirty="0"/>
              <a:t> pulled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r>
              <a:rPr lang="da-DK" dirty="0" err="1"/>
              <a:t>Working</a:t>
            </a:r>
            <a:r>
              <a:rPr lang="da-DK" dirty="0"/>
              <a:t> on </a:t>
            </a:r>
            <a:r>
              <a:rPr lang="da-DK" dirty="0" err="1"/>
              <a:t>pulling</a:t>
            </a:r>
            <a:r>
              <a:rPr lang="da-DK" dirty="0"/>
              <a:t> the EUR-lex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link to…</a:t>
            </a:r>
          </a:p>
          <a:p>
            <a:endParaRPr lang="da-DK" dirty="0"/>
          </a:p>
          <a:p>
            <a:r>
              <a:rPr lang="da-DK" dirty="0"/>
              <a:t>Im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confused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get</a:t>
            </a:r>
            <a:r>
              <a:rPr lang="da-DK" dirty="0"/>
              <a:t> the </a:t>
            </a:r>
            <a:r>
              <a:rPr lang="da-DK" dirty="0" err="1"/>
              <a:t>results</a:t>
            </a:r>
            <a:r>
              <a:rPr lang="da-DK" dirty="0"/>
              <a:t> for the </a:t>
            </a:r>
            <a:r>
              <a:rPr lang="da-DK" dirty="0" err="1"/>
              <a:t>swedish</a:t>
            </a:r>
            <a:r>
              <a:rPr lang="da-DK" dirty="0"/>
              <a:t> </a:t>
            </a:r>
            <a:r>
              <a:rPr lang="da-DK" dirty="0" err="1"/>
              <a:t>searches</a:t>
            </a:r>
            <a:r>
              <a:rPr lang="da-DK" dirty="0"/>
              <a:t>… 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</TotalTime>
  <Words>1104</Words>
  <Application>Microsoft Office PowerPoint</Application>
  <PresentationFormat>Widescreen</PresentationFormat>
  <Paragraphs>191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18</cp:revision>
  <dcterms:created xsi:type="dcterms:W3CDTF">2022-09-29T07:12:58Z</dcterms:created>
  <dcterms:modified xsi:type="dcterms:W3CDTF">2022-10-04T14:07:12Z</dcterms:modified>
</cp:coreProperties>
</file>