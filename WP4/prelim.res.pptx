
<file path=[Content_Types].xml><?xml version="1.0" encoding="utf-8"?>
<Types xmlns="http://schemas.openxmlformats.org/package/2006/content-types">
  <Default Extension="all" ContentType="image/pn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5" r:id="rId10"/>
    <p:sldId id="263" r:id="rId11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446" autoAdjust="0"/>
    <p:restoredTop sz="94660"/>
  </p:normalViewPr>
  <p:slideViewPr>
    <p:cSldViewPr snapToGrid="0">
      <p:cViewPr varScale="1">
        <p:scale>
          <a:sx n="81" d="100"/>
          <a:sy n="81" d="100"/>
        </p:scale>
        <p:origin x="200" y="11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1D2F6-6D98-36D4-B4AE-AC5603F231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426FC-C15A-8944-B4C1-FA8FFD2234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B1AEF-EFB6-2A55-0C3C-018C4C2A1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EA636-68E9-4B68-A04B-EC9521FD5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37F6C1-8182-8DBC-993D-826374074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80567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ACDB2-C928-A485-49FF-AE8F8C9B0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B45CF-F7E7-F96C-0EDE-3A244E275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9980FD-D6E7-C901-4C80-512D89A3F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84DB30-A90D-B6EC-F3BF-2D138F84C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1969-08AE-E8D0-1E21-0848E2124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2261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2AEF6-7D42-1BA5-2889-723C40045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2271E8-5488-B6B1-60A1-CEFB2BA7BA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6018B-24DA-6D1F-EEC6-2066F618D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DF1A0-3C47-27E8-B468-B2D840D8B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0330E-F199-C7AB-E89D-347C3A395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22446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20C1A-4E3B-A2C7-BA73-48C68D156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7C8340-79CC-F814-1FB0-A5AAB2846E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F9933-7A97-BE5A-6185-5689502A65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5A0814-6F21-D537-078F-47F37CF26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32DCE0-2DC5-E6B4-75DC-3C5740CFE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56C113-CF50-3501-24CC-818D19D8A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58537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AD639-8E27-58E6-6534-127927463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2E6E9-FEB0-D649-C8C5-E96B1DDB51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14B433-DA3A-F380-7E63-3C7E23DDCA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25D973-E8CB-DB09-9AC0-2CECD3FF51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1EA8AA-31D1-BF12-BE80-1380C2C0A1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A058AD-B9C7-C95A-EE14-9BE1B2ACB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0FFF52-026C-C723-7400-D3D9FDDD4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973B93-377F-C44A-9295-2E2922D1F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687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96007-CAB5-801A-CB5D-B1CE701D9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212083-BCBD-A106-7A9D-E81583E78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6ED8E6-044A-7162-650C-5C08F25D3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9877F8-83D0-224C-A9DD-5BCEBB0E4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66896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812DB9-83A5-8BA4-F19F-75221EACF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140EBC-7B8F-81E9-5D6D-911759447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DDC2C-2478-72A2-6900-DCD6D389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37815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8E3F2-38E3-30D8-2113-EC621E462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7ECDD-CF38-0826-B1E9-B6E46F238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06A8F9-0A1E-93A4-C8E5-0755AC7BE4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FFA824-443D-956E-C682-4CBF904CF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6FEF79-EB9A-3FDC-15D4-A2B4F0315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8BC1DD-C287-B432-7A8B-C47963806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14332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F33A7-C8AD-6091-627C-7836C25BA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5FD42D-1A04-5B66-91BA-BFC3ED860E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79F470-2BA2-2B58-225B-C9B6DD215D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12734F-249A-ECA1-F746-9DF8AC609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D0456B-F4B5-0590-E3FA-FE1DD5CEB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B601A-88A0-8DB3-1B2B-5916FC757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1568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11375-5E56-AB83-CC12-5D18ECDE0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6FBBB5-0202-1BD9-EF72-461B2AD47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99C585-FA32-03D3-5D1D-FC5829F43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9ED811-91F7-CE65-39BE-82C41B678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1D444-70E6-B98F-CABE-965F9054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30796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BBCB21-1E97-BDE8-7DA0-CBA698867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F9C700-EAE6-F6F2-D086-50B095C798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068E8-DF23-6D42-F224-CFD24282E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8EB364-FECD-EE04-4302-83ABD25A8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3776D-8EC0-D051-B037-2902764EB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61080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C0A0BC-76D1-D1DF-7E2B-79B9628CC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55CE74-9B10-E15A-30F1-EB71474CF0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5185B6-7CEF-5F34-5370-3330C092BA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1DF5F-FDEE-CA7A-6A85-661935E52A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42F7D5-585B-3913-6B7B-FA701095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52762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al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69928B-080C-3855-29D6-AB8AFEEB4B19}"/>
              </a:ext>
            </a:extLst>
          </p:cNvPr>
          <p:cNvSpPr txBox="1"/>
          <p:nvPr/>
        </p:nvSpPr>
        <p:spPr>
          <a:xfrm>
            <a:off x="349513" y="346118"/>
            <a:ext cx="4657726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First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r>
              <a:rPr lang="da-DK" sz="1600" b="1" dirty="0"/>
              <a:t> ”marine </a:t>
            </a:r>
            <a:r>
              <a:rPr lang="da-DK" sz="1600" b="1" dirty="0" err="1"/>
              <a:t>protected</a:t>
            </a:r>
            <a:r>
              <a:rPr lang="da-DK" sz="1600" b="1" dirty="0"/>
              <a:t>”, </a:t>
            </a:r>
            <a:r>
              <a:rPr lang="da-DK" sz="1600" b="1" dirty="0" err="1"/>
              <a:t>exactly</a:t>
            </a:r>
            <a:r>
              <a:rPr lang="da-DK" sz="1600" b="1" dirty="0"/>
              <a:t>=TRUE</a:t>
            </a:r>
          </a:p>
          <a:p>
            <a:endParaRPr lang="da-DK" sz="12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Resulted</a:t>
            </a:r>
            <a:r>
              <a:rPr lang="da-DK" sz="1200" dirty="0">
                <a:sym typeface="Wingdings" panose="05000000000000000000" pitchFamily="2" charset="2"/>
              </a:rPr>
              <a:t> in 24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6 decisions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2 </a:t>
            </a:r>
            <a:r>
              <a:rPr lang="da-DK" sz="1200" dirty="0" err="1">
                <a:sym typeface="Wingdings" panose="05000000000000000000" pitchFamily="2" charset="2"/>
              </a:rPr>
              <a:t>directives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8 opinions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 </a:t>
            </a:r>
            <a:r>
              <a:rPr lang="da-DK" sz="1200" dirty="0" err="1">
                <a:sym typeface="Wingdings" panose="05000000000000000000" pitchFamily="2" charset="2"/>
              </a:rPr>
              <a:t>recomendation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7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19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another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There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208 </a:t>
            </a:r>
            <a:r>
              <a:rPr lang="da-DK" sz="1200" dirty="0" err="1">
                <a:sym typeface="Wingdings" panose="05000000000000000000" pitchFamily="2" charset="2"/>
              </a:rPr>
              <a:t>distinct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 citations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b="1" dirty="0" err="1">
                <a:sym typeface="Wingdings" panose="05000000000000000000" pitchFamily="2" charset="2"/>
              </a:rPr>
              <a:t>Within</a:t>
            </a:r>
            <a:r>
              <a:rPr lang="da-DK" sz="1200" b="1" dirty="0">
                <a:sym typeface="Wingdings" panose="05000000000000000000" pitchFamily="2" charset="2"/>
              </a:rPr>
              <a:t> the </a:t>
            </a:r>
            <a:r>
              <a:rPr lang="da-DK" sz="1200" b="1" dirty="0" err="1">
                <a:sym typeface="Wingdings" panose="05000000000000000000" pitchFamily="2" charset="2"/>
              </a:rPr>
              <a:t>network</a:t>
            </a:r>
            <a:r>
              <a:rPr lang="da-DK" sz="1200" b="1" dirty="0">
                <a:sym typeface="Wingdings" panose="05000000000000000000" pitchFamily="2" charset="2"/>
              </a:rPr>
              <a:t> plot: 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When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we</a:t>
            </a:r>
            <a:r>
              <a:rPr lang="da-DK" sz="1200" dirty="0">
                <a:sym typeface="Wingdings" panose="05000000000000000000" pitchFamily="2" charset="2"/>
              </a:rPr>
              <a:t> filter for citations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legeslation</a:t>
            </a:r>
            <a:r>
              <a:rPr lang="da-DK" sz="1200" dirty="0">
                <a:sym typeface="Wingdings" panose="05000000000000000000" pitchFamily="2" charset="2"/>
              </a:rPr>
              <a:t>…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17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legislation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134 out of the 208 citations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legislative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in the </a:t>
            </a:r>
            <a:r>
              <a:rPr lang="da-DK" sz="1200" dirty="0" err="1">
                <a:sym typeface="Wingdings" panose="05000000000000000000" pitchFamily="2" charset="2"/>
              </a:rPr>
              <a:t>search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results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also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cited</a:t>
            </a:r>
            <a:r>
              <a:rPr lang="da-DK" sz="1200" dirty="0">
                <a:sym typeface="Wingdings" panose="05000000000000000000" pitchFamily="2" charset="2"/>
              </a:rPr>
              <a:t> in </a:t>
            </a:r>
            <a:r>
              <a:rPr lang="da-DK" sz="1200" dirty="0" err="1">
                <a:sym typeface="Wingdings" panose="05000000000000000000" pitchFamily="2" charset="2"/>
              </a:rPr>
              <a:t>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. </a:t>
            </a:r>
            <a:r>
              <a:rPr lang="da-DK" sz="1200" dirty="0" err="1">
                <a:sym typeface="Wingdings" panose="05000000000000000000" pitchFamily="2" charset="2"/>
              </a:rPr>
              <a:t>These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: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Marine </a:t>
            </a:r>
            <a:r>
              <a:rPr lang="da-DK" sz="1200" dirty="0" err="1">
                <a:sym typeface="Wingdings" panose="05000000000000000000" pitchFamily="2" charset="2"/>
              </a:rPr>
              <a:t>stratey</a:t>
            </a:r>
            <a:r>
              <a:rPr lang="da-DK" sz="1200" dirty="0">
                <a:sym typeface="Wingdings" panose="05000000000000000000" pitchFamily="2" charset="2"/>
              </a:rPr>
              <a:t> framework </a:t>
            </a:r>
            <a:r>
              <a:rPr lang="da-DK" sz="1200" dirty="0" err="1">
                <a:sym typeface="Wingdings" panose="05000000000000000000" pitchFamily="2" charset="2"/>
              </a:rPr>
              <a:t>directive</a:t>
            </a:r>
            <a:r>
              <a:rPr lang="da-DK" sz="1200" dirty="0">
                <a:sym typeface="Wingdings" panose="05000000000000000000" pitchFamily="2" charset="2"/>
              </a:rPr>
              <a:t> (32008L0056)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CFP </a:t>
            </a:r>
            <a:r>
              <a:rPr lang="da-DK" sz="1200" dirty="0" err="1">
                <a:sym typeface="Wingdings" panose="05000000000000000000" pitchFamily="2" charset="2"/>
              </a:rPr>
              <a:t>amending</a:t>
            </a:r>
            <a:r>
              <a:rPr lang="da-DK" sz="1200" dirty="0">
                <a:sym typeface="Wingdings" panose="05000000000000000000" pitchFamily="2" charset="2"/>
              </a:rPr>
              <a:t> Council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 (32013R1380)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European maritime and </a:t>
            </a:r>
            <a:r>
              <a:rPr lang="da-DK" sz="1200" dirty="0" err="1">
                <a:sym typeface="Wingdings" panose="05000000000000000000" pitchFamily="2" charset="2"/>
              </a:rPr>
              <a:t>fisheries</a:t>
            </a:r>
            <a:r>
              <a:rPr lang="da-DK" sz="1200" dirty="0">
                <a:sym typeface="Wingdings" panose="05000000000000000000" pitchFamily="2" charset="2"/>
              </a:rPr>
              <a:t> fund and </a:t>
            </a:r>
            <a:r>
              <a:rPr lang="da-DK" sz="1200" dirty="0" err="1">
                <a:sym typeface="Wingdings" panose="05000000000000000000" pitchFamily="2" charset="2"/>
              </a:rPr>
              <a:t>repealing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council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. (32014R0508)</a:t>
            </a:r>
          </a:p>
          <a:p>
            <a:endParaRPr lang="da-DK" sz="1200" dirty="0">
              <a:sym typeface="Wingdings" panose="05000000000000000000" pitchFamily="2" charset="2"/>
            </a:endParaRP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 Total:</a:t>
            </a:r>
          </a:p>
          <a:p>
            <a:r>
              <a:rPr lang="da-DK" sz="1200" dirty="0">
                <a:sym typeface="Wingdings" panose="05000000000000000000" pitchFamily="2" charset="2"/>
              </a:rPr>
              <a:t>       148 </a:t>
            </a:r>
            <a:r>
              <a:rPr lang="da-DK" sz="1200" dirty="0" err="1">
                <a:sym typeface="Wingdings" panose="05000000000000000000" pitchFamily="2" charset="2"/>
              </a:rPr>
              <a:t>vertices</a:t>
            </a: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       498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interactions</a:t>
            </a:r>
            <a:endParaRPr lang="da-DK" sz="1200" dirty="0">
              <a:sym typeface="Wingdings" panose="05000000000000000000" pitchFamily="2" charset="2"/>
            </a:endParaRPr>
          </a:p>
          <a:p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7" name="Picture 6" descr="Chart, scatter chart&#10;&#10;Description automatically generated">
            <a:extLst>
              <a:ext uri="{FF2B5EF4-FFF2-40B4-BE49-F238E27FC236}">
                <a16:creationId xmlns:a16="http://schemas.microsoft.com/office/drawing/2014/main" id="{F01D2914-F5CE-726C-7988-D96F0563DE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2157" y="12689"/>
            <a:ext cx="6489843" cy="6845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8526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DA2C5E-11D1-B3CB-C11E-34C8583E91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06413" y="657225"/>
            <a:ext cx="4579937" cy="381158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da-DK" sz="1700" b="1" dirty="0"/>
              <a:t>First EUR-Lex </a:t>
            </a:r>
            <a:r>
              <a:rPr lang="da-DK" sz="1700" b="1" dirty="0" err="1"/>
              <a:t>search</a:t>
            </a:r>
            <a:r>
              <a:rPr lang="da-DK" sz="1700" b="1" dirty="0"/>
              <a:t> </a:t>
            </a:r>
            <a:r>
              <a:rPr lang="da-DK" sz="1700" b="1" dirty="0" err="1"/>
              <a:t>query</a:t>
            </a:r>
            <a:r>
              <a:rPr lang="da-DK" sz="1700" b="1" dirty="0"/>
              <a:t> ”marine </a:t>
            </a:r>
            <a:r>
              <a:rPr lang="da-DK" sz="1700" b="1" dirty="0" err="1"/>
              <a:t>protected</a:t>
            </a:r>
            <a:r>
              <a:rPr lang="da-DK" sz="1700" b="1" dirty="0"/>
              <a:t>”, </a:t>
            </a:r>
            <a:r>
              <a:rPr lang="da-DK" sz="1700" b="1" dirty="0" err="1"/>
              <a:t>exactly</a:t>
            </a:r>
            <a:r>
              <a:rPr lang="da-DK" sz="1700" b="1" dirty="0"/>
              <a:t>=TRUE</a:t>
            </a:r>
          </a:p>
          <a:p>
            <a:pPr>
              <a:lnSpc>
                <a:spcPct val="100000"/>
              </a:lnSpc>
            </a:pPr>
            <a:endParaRPr lang="da-DK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435 </a:t>
            </a:r>
            <a:r>
              <a:rPr lang="da-DK" dirty="0" err="1">
                <a:sym typeface="Wingdings" panose="05000000000000000000" pitchFamily="2" charset="2"/>
              </a:rPr>
              <a:t>are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</a:t>
            </a:r>
            <a:r>
              <a:rPr lang="da-DK" dirty="0" err="1"/>
              <a:t>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citations.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118 citations </a:t>
            </a:r>
            <a:r>
              <a:rPr lang="da-DK" dirty="0" err="1"/>
              <a:t>cite</a:t>
            </a:r>
            <a:r>
              <a:rPr lang="da-DK" dirty="0"/>
              <a:t> </a:t>
            </a:r>
            <a:r>
              <a:rPr lang="da-DK" dirty="0" err="1"/>
              <a:t>another</a:t>
            </a:r>
            <a:r>
              <a:rPr lang="da-DK" dirty="0"/>
              <a:t> legislative </a:t>
            </a:r>
            <a:r>
              <a:rPr lang="da-DK" dirty="0" err="1"/>
              <a:t>document</a:t>
            </a:r>
            <a:endParaRPr lang="da-DK" dirty="0"/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A new </a:t>
            </a:r>
            <a:r>
              <a:rPr lang="da-DK" dirty="0" err="1"/>
              <a:t>document</a:t>
            </a:r>
            <a:r>
              <a:rPr lang="da-DK" dirty="0"/>
              <a:t> is </a:t>
            </a:r>
            <a:r>
              <a:rPr lang="da-DK" dirty="0" err="1"/>
              <a:t>now</a:t>
            </a:r>
            <a:r>
              <a:rPr lang="da-DK" dirty="0"/>
              <a:t> </a:t>
            </a:r>
            <a:r>
              <a:rPr lang="da-DK" dirty="0" err="1"/>
              <a:t>added</a:t>
            </a:r>
            <a:r>
              <a:rPr lang="da-DK" dirty="0"/>
              <a:t> t the </a:t>
            </a:r>
            <a:r>
              <a:rPr lang="da-DK" dirty="0" err="1"/>
              <a:t>both</a:t>
            </a:r>
            <a:r>
              <a:rPr lang="da-DK" dirty="0"/>
              <a:t> </a:t>
            </a:r>
            <a:r>
              <a:rPr lang="da-DK" dirty="0" err="1"/>
              <a:t>category</a:t>
            </a:r>
            <a:r>
              <a:rPr lang="da-DK" dirty="0"/>
              <a:t>. </a:t>
            </a:r>
          </a:p>
          <a:p>
            <a:pPr marL="742950" lvl="1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32013D1386 </a:t>
            </a:r>
            <a:r>
              <a:rPr lang="da-DK" dirty="0" err="1"/>
              <a:t>was</a:t>
            </a:r>
            <a:r>
              <a:rPr lang="da-DK" dirty="0"/>
              <a:t> pulled from the </a:t>
            </a:r>
            <a:r>
              <a:rPr lang="da-DK" dirty="0" err="1"/>
              <a:t>search</a:t>
            </a:r>
            <a:r>
              <a:rPr lang="da-DK" dirty="0"/>
              <a:t> </a:t>
            </a:r>
            <a:r>
              <a:rPr lang="da-DK" dirty="0" err="1"/>
              <a:t>result</a:t>
            </a:r>
            <a:r>
              <a:rPr lang="da-DK" dirty="0"/>
              <a:t> and is a </a:t>
            </a:r>
            <a:r>
              <a:rPr lang="da-DK" dirty="0" err="1"/>
              <a:t>second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  </a:t>
            </a:r>
          </a:p>
          <a:p>
            <a:pPr>
              <a:lnSpc>
                <a:spcPct val="100000"/>
              </a:lnSpc>
            </a:pP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Total: </a:t>
            </a:r>
          </a:p>
          <a:p>
            <a:pPr>
              <a:lnSpc>
                <a:spcPct val="100000"/>
              </a:lnSpc>
            </a:pPr>
            <a:r>
              <a:rPr lang="da-DK" dirty="0"/>
              <a:t>583 </a:t>
            </a:r>
            <a:r>
              <a:rPr lang="da-DK" dirty="0" err="1"/>
              <a:t>vertices</a:t>
            </a: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2466 </a:t>
            </a:r>
            <a:r>
              <a:rPr lang="da-DK" dirty="0" err="1"/>
              <a:t>edge</a:t>
            </a:r>
            <a:r>
              <a:rPr lang="da-DK" dirty="0"/>
              <a:t> </a:t>
            </a:r>
            <a:r>
              <a:rPr lang="da-DK" dirty="0" err="1"/>
              <a:t>interactions</a:t>
            </a:r>
            <a:endParaRPr lang="da-DK" dirty="0"/>
          </a:p>
        </p:txBody>
      </p:sp>
      <p:pic>
        <p:nvPicPr>
          <p:cNvPr id="3" name="Picture 2" descr="Chart, scatter chart&#10;&#10;Description automatically generated">
            <a:extLst>
              <a:ext uri="{FF2B5EF4-FFF2-40B4-BE49-F238E27FC236}">
                <a16:creationId xmlns:a16="http://schemas.microsoft.com/office/drawing/2014/main" id="{EFF11456-3D5D-A6C3-05B1-170EEF0929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0"/>
            <a:ext cx="71479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8179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E14158-9C41-640F-913E-A949711AF12A}"/>
              </a:ext>
            </a:extLst>
          </p:cNvPr>
          <p:cNvSpPr txBox="1"/>
          <p:nvPr/>
        </p:nvSpPr>
        <p:spPr>
          <a:xfrm>
            <a:off x="342900" y="428625"/>
            <a:ext cx="5205493" cy="6801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First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r>
              <a:rPr lang="da-DK" sz="1600" b="1" dirty="0"/>
              <a:t> ”marine </a:t>
            </a:r>
            <a:r>
              <a:rPr lang="da-DK" sz="1600" b="1" dirty="0" err="1"/>
              <a:t>protected</a:t>
            </a:r>
            <a:r>
              <a:rPr lang="da-DK" sz="1600" b="1" dirty="0"/>
              <a:t>”, </a:t>
            </a:r>
            <a:r>
              <a:rPr lang="da-DK" sz="1600" b="1" dirty="0" err="1"/>
              <a:t>exactly</a:t>
            </a:r>
            <a:r>
              <a:rPr lang="da-DK" sz="1600" b="1" dirty="0"/>
              <a:t>=TRUE</a:t>
            </a:r>
          </a:p>
          <a:p>
            <a:endParaRPr lang="da-DK" sz="1200" dirty="0"/>
          </a:p>
          <a:p>
            <a:endParaRPr lang="da-DK" dirty="0">
              <a:sym typeface="Wingdings" panose="05000000000000000000" pitchFamily="2" charset="2"/>
            </a:endParaRPr>
          </a:p>
          <a:p>
            <a:r>
              <a:rPr lang="da-DK" sz="1600" dirty="0">
                <a:sym typeface="Wingdings" panose="05000000000000000000" pitchFamily="2" charset="2"/>
              </a:rPr>
              <a:t>EUROVOC term labels and </a:t>
            </a:r>
            <a:r>
              <a:rPr lang="da-DK" sz="1600" dirty="0" err="1">
                <a:sym typeface="Wingdings" panose="05000000000000000000" pitchFamily="2" charset="2"/>
              </a:rPr>
              <a:t>themes</a:t>
            </a:r>
            <a:r>
              <a:rPr lang="da-DK" sz="1600" dirty="0">
                <a:sym typeface="Wingdings" panose="05000000000000000000" pitchFamily="2" charset="2"/>
              </a:rPr>
              <a:t> for the 24 </a:t>
            </a:r>
            <a:r>
              <a:rPr lang="da-DK" sz="1600" dirty="0" err="1">
                <a:sym typeface="Wingdings" panose="05000000000000000000" pitchFamily="2" charset="2"/>
              </a:rPr>
              <a:t>document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results</a:t>
            </a:r>
            <a:endParaRPr lang="da-DK" sz="16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600" dirty="0">
                <a:sym typeface="Wingdings" panose="05000000000000000000" pitchFamily="2" charset="2"/>
              </a:rPr>
              <a:t>103 </a:t>
            </a:r>
            <a:r>
              <a:rPr lang="da-DK" sz="1600" dirty="0" err="1">
                <a:sym typeface="Wingdings" panose="05000000000000000000" pitchFamily="2" charset="2"/>
              </a:rPr>
              <a:t>eurovoc</a:t>
            </a:r>
            <a:r>
              <a:rPr lang="da-DK" sz="1600" dirty="0">
                <a:sym typeface="Wingdings" panose="05000000000000000000" pitchFamily="2" charset="2"/>
              </a:rPr>
              <a:t> labels </a:t>
            </a:r>
            <a:r>
              <a:rPr lang="da-DK" sz="1600" dirty="0" err="1">
                <a:sym typeface="Wingdings" panose="05000000000000000000" pitchFamily="2" charset="2"/>
              </a:rPr>
              <a:t>associated</a:t>
            </a:r>
            <a:r>
              <a:rPr lang="da-DK" sz="1600" dirty="0">
                <a:sym typeface="Wingdings" panose="05000000000000000000" pitchFamily="2" charset="2"/>
              </a:rPr>
              <a:t> to 29 </a:t>
            </a:r>
            <a:r>
              <a:rPr lang="da-DK" sz="1600" dirty="0" err="1">
                <a:sym typeface="Wingdings" panose="05000000000000000000" pitchFamily="2" charset="2"/>
              </a:rPr>
              <a:t>themes</a:t>
            </a:r>
            <a:endParaRPr lang="da-DK" sz="16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In total </a:t>
            </a:r>
            <a:r>
              <a:rPr lang="da-DK" sz="1600" dirty="0" err="1">
                <a:sym typeface="Wingdings" panose="05000000000000000000" pitchFamily="2" charset="2"/>
              </a:rPr>
              <a:t>there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are</a:t>
            </a:r>
            <a:r>
              <a:rPr lang="da-DK" sz="1600" dirty="0">
                <a:sym typeface="Wingdings" panose="05000000000000000000" pitchFamily="2" charset="2"/>
              </a:rPr>
              <a:t> 607 term </a:t>
            </a:r>
            <a:r>
              <a:rPr lang="da-DK" sz="1600" dirty="0" err="1">
                <a:sym typeface="Wingdings" panose="05000000000000000000" pitchFamily="2" charset="2"/>
              </a:rPr>
              <a:t>co-occurance</a:t>
            </a:r>
            <a:r>
              <a:rPr lang="da-DK" sz="1600" dirty="0">
                <a:sym typeface="Wingdings" panose="05000000000000000000" pitchFamily="2" charset="2"/>
              </a:rPr>
              <a:t> pairs. (</a:t>
            </a:r>
            <a:r>
              <a:rPr lang="da-DK" sz="1600" dirty="0" err="1">
                <a:sym typeface="Wingdings" panose="05000000000000000000" pitchFamily="2" charset="2"/>
              </a:rPr>
              <a:t>Nmbr</a:t>
            </a:r>
            <a:r>
              <a:rPr lang="da-DK" sz="1600" dirty="0">
                <a:sym typeface="Wingdings" panose="05000000000000000000" pitchFamily="2" charset="2"/>
              </a:rPr>
              <a:t> of times terms </a:t>
            </a:r>
            <a:r>
              <a:rPr lang="da-DK" sz="1600" dirty="0" err="1">
                <a:sym typeface="Wingdings" panose="05000000000000000000" pitchFamily="2" charset="2"/>
              </a:rPr>
              <a:t>appear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within</a:t>
            </a:r>
            <a:r>
              <a:rPr lang="da-DK" sz="1600" dirty="0">
                <a:sym typeface="Wingdings" panose="05000000000000000000" pitchFamily="2" charset="2"/>
              </a:rPr>
              <a:t> a EU </a:t>
            </a:r>
            <a:r>
              <a:rPr lang="da-DK" sz="1600" dirty="0" err="1">
                <a:sym typeface="Wingdings" panose="05000000000000000000" pitchFamily="2" charset="2"/>
              </a:rPr>
              <a:t>document</a:t>
            </a:r>
            <a:r>
              <a:rPr lang="da-DK" sz="1600" dirty="0">
                <a:sym typeface="Wingdings" panose="05000000000000000000" pitchFamily="2" charset="2"/>
              </a:rPr>
              <a:t>)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r>
              <a:rPr lang="da-DK" sz="1600" dirty="0">
                <a:sym typeface="Wingdings" panose="05000000000000000000" pitchFamily="2" charset="2"/>
              </a:rPr>
              <a:t>Min </a:t>
            </a:r>
            <a:r>
              <a:rPr lang="da-DK" sz="1600" dirty="0" err="1">
                <a:sym typeface="Wingdings" panose="05000000000000000000" pitchFamily="2" charset="2"/>
              </a:rPr>
              <a:t>number</a:t>
            </a:r>
            <a:r>
              <a:rPr lang="da-DK" sz="1600" dirty="0">
                <a:sym typeface="Wingdings" panose="05000000000000000000" pitchFamily="2" charset="2"/>
              </a:rPr>
              <a:t> of </a:t>
            </a:r>
            <a:r>
              <a:rPr lang="da-DK" sz="1600" dirty="0" err="1">
                <a:sym typeface="Wingdings" panose="05000000000000000000" pitchFamily="2" charset="2"/>
              </a:rPr>
              <a:t>counts</a:t>
            </a:r>
            <a:r>
              <a:rPr lang="da-DK" sz="1600" dirty="0">
                <a:sym typeface="Wingdings" panose="05000000000000000000" pitchFamily="2" charset="2"/>
              </a:rPr>
              <a:t> is 1 and the </a:t>
            </a:r>
            <a:r>
              <a:rPr lang="da-DK" sz="1600" dirty="0" err="1">
                <a:sym typeface="Wingdings" panose="05000000000000000000" pitchFamily="2" charset="2"/>
              </a:rPr>
              <a:t>maximum</a:t>
            </a:r>
            <a:r>
              <a:rPr lang="da-DK" sz="1600" dirty="0">
                <a:sym typeface="Wingdings" panose="05000000000000000000" pitchFamily="2" charset="2"/>
              </a:rPr>
              <a:t> is 6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Total:</a:t>
            </a: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1214 </a:t>
            </a:r>
            <a:r>
              <a:rPr lang="da-DK" sz="1600" dirty="0" err="1">
                <a:sym typeface="Wingdings" panose="05000000000000000000" pitchFamily="2" charset="2"/>
              </a:rPr>
              <a:t>edge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interactions</a:t>
            </a: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103 </a:t>
            </a:r>
            <a:r>
              <a:rPr lang="da-DK" sz="1600" dirty="0" err="1">
                <a:sym typeface="Wingdings" panose="05000000000000000000" pitchFamily="2" charset="2"/>
              </a:rPr>
              <a:t>vertices</a:t>
            </a:r>
            <a:endParaRPr lang="da-DK" sz="16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The </a:t>
            </a:r>
            <a:r>
              <a:rPr lang="da-DK" sz="1600" dirty="0" err="1">
                <a:sym typeface="Wingdings" panose="05000000000000000000" pitchFamily="2" charset="2"/>
              </a:rPr>
              <a:t>only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documents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that</a:t>
            </a:r>
            <a:r>
              <a:rPr lang="da-DK" sz="1600" dirty="0">
                <a:sym typeface="Wingdings" panose="05000000000000000000" pitchFamily="2" charset="2"/>
              </a:rPr>
              <a:t> had more </a:t>
            </a:r>
            <a:r>
              <a:rPr lang="da-DK" sz="1600" dirty="0" err="1">
                <a:sym typeface="Wingdings" panose="05000000000000000000" pitchFamily="2" charset="2"/>
              </a:rPr>
              <a:t>than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one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theme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associated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were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those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that</a:t>
            </a:r>
            <a:r>
              <a:rPr lang="da-DK" sz="1600" dirty="0">
                <a:sym typeface="Wingdings" panose="05000000000000000000" pitchFamily="2" charset="2"/>
              </a:rPr>
              <a:t> have a country label. For the sake of </a:t>
            </a:r>
            <a:r>
              <a:rPr lang="da-DK" sz="1600" dirty="0" err="1">
                <a:sym typeface="Wingdings" panose="05000000000000000000" pitchFamily="2" charset="2"/>
              </a:rPr>
              <a:t>simplicity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here</a:t>
            </a:r>
            <a:r>
              <a:rPr lang="da-DK" sz="1600" dirty="0">
                <a:sym typeface="Wingdings" panose="05000000000000000000" pitchFamily="2" charset="2"/>
              </a:rPr>
              <a:t> i </a:t>
            </a:r>
            <a:r>
              <a:rPr lang="da-DK" sz="1600" dirty="0" err="1">
                <a:sym typeface="Wingdings" panose="05000000000000000000" pitchFamily="2" charset="2"/>
              </a:rPr>
              <a:t>only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kept</a:t>
            </a:r>
            <a:r>
              <a:rPr lang="da-DK" sz="1600" dirty="0">
                <a:sym typeface="Wingdings" panose="05000000000000000000" pitchFamily="2" charset="2"/>
              </a:rPr>
              <a:t> the </a:t>
            </a:r>
            <a:r>
              <a:rPr lang="da-DK" sz="1600" dirty="0" err="1">
                <a:sym typeface="Wingdings" panose="05000000000000000000" pitchFamily="2" charset="2"/>
              </a:rPr>
              <a:t>continent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theme</a:t>
            </a:r>
            <a:r>
              <a:rPr lang="da-DK" sz="1600" dirty="0">
                <a:sym typeface="Wingdings" panose="05000000000000000000" pitchFamily="2" charset="2"/>
              </a:rPr>
              <a:t> and </a:t>
            </a:r>
            <a:r>
              <a:rPr lang="da-DK" sz="1600" dirty="0" err="1">
                <a:sym typeface="Wingdings" panose="05000000000000000000" pitchFamily="2" charset="2"/>
              </a:rPr>
              <a:t>filtered</a:t>
            </a:r>
            <a:r>
              <a:rPr lang="da-DK" sz="1600" dirty="0">
                <a:sym typeface="Wingdings" panose="05000000000000000000" pitchFamily="2" charset="2"/>
              </a:rPr>
              <a:t> out the </a:t>
            </a:r>
            <a:r>
              <a:rPr lang="da-DK" sz="1600" dirty="0" err="1">
                <a:sym typeface="Wingdings" panose="05000000000000000000" pitchFamily="2" charset="2"/>
              </a:rPr>
              <a:t>other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associated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themes</a:t>
            </a:r>
            <a:r>
              <a:rPr lang="da-DK" sz="1600" dirty="0">
                <a:sym typeface="Wingdings" panose="05000000000000000000" pitchFamily="2" charset="2"/>
              </a:rPr>
              <a:t>. </a:t>
            </a:r>
          </a:p>
          <a:p>
            <a:pPr algn="l"/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en-US" sz="1600" dirty="0">
                <a:sym typeface="Wingdings" panose="05000000000000000000" pitchFamily="2" charset="2"/>
              </a:rPr>
              <a:t>*label size is equiv. to percent of edges associated to the word out of total edges</a:t>
            </a:r>
            <a:endParaRPr lang="da-DK" sz="1600" dirty="0">
              <a:sym typeface="Wingdings" panose="05000000000000000000" pitchFamily="2" charset="2"/>
            </a:endParaRPr>
          </a:p>
          <a:p>
            <a:pPr algn="l"/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br>
              <a:rPr lang="en-US" dirty="0"/>
            </a:br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7" name="Picture 6" descr="Timeline&#10;&#10;Description automatically generated">
            <a:extLst>
              <a:ext uri="{FF2B5EF4-FFF2-40B4-BE49-F238E27FC236}">
                <a16:creationId xmlns:a16="http://schemas.microsoft.com/office/drawing/2014/main" id="{98B4D43A-07AB-FE32-B06D-3FE64B5C3A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0128" y="0"/>
            <a:ext cx="65018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552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4FE3C7-EC48-4FF6-6C1C-4033AF86A9D2}"/>
              </a:ext>
            </a:extLst>
          </p:cNvPr>
          <p:cNvSpPr txBox="1"/>
          <p:nvPr/>
        </p:nvSpPr>
        <p:spPr>
          <a:xfrm>
            <a:off x="342900" y="428625"/>
            <a:ext cx="5205493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First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r>
              <a:rPr lang="da-DK" sz="1600" b="1" dirty="0"/>
              <a:t> ”marine </a:t>
            </a:r>
            <a:r>
              <a:rPr lang="da-DK" sz="1600" b="1" dirty="0" err="1"/>
              <a:t>protected</a:t>
            </a:r>
            <a:r>
              <a:rPr lang="da-DK" sz="1600" b="1" dirty="0"/>
              <a:t>”, </a:t>
            </a:r>
            <a:r>
              <a:rPr lang="da-DK" sz="1600" b="1" dirty="0" err="1"/>
              <a:t>exactly</a:t>
            </a:r>
            <a:r>
              <a:rPr lang="da-DK" sz="1600" b="1" dirty="0"/>
              <a:t>=TRUE</a:t>
            </a:r>
          </a:p>
          <a:p>
            <a:endParaRPr lang="da-DK" sz="1200" dirty="0"/>
          </a:p>
          <a:p>
            <a:r>
              <a:rPr lang="da-DK" dirty="0">
                <a:sym typeface="Wingdings" panose="05000000000000000000" pitchFamily="2" charset="2"/>
              </a:rPr>
              <a:t>To </a:t>
            </a:r>
            <a:r>
              <a:rPr lang="da-DK" dirty="0" err="1">
                <a:sym typeface="Wingdings" panose="05000000000000000000" pitchFamily="2" charset="2"/>
              </a:rPr>
              <a:t>make</a:t>
            </a:r>
            <a:r>
              <a:rPr lang="da-DK" dirty="0">
                <a:sym typeface="Wingdings" panose="05000000000000000000" pitchFamily="2" charset="2"/>
              </a:rPr>
              <a:t> a </a:t>
            </a:r>
            <a:r>
              <a:rPr lang="da-DK" dirty="0" err="1">
                <a:sym typeface="Wingdings" panose="05000000000000000000" pitchFamily="2" charset="2"/>
              </a:rPr>
              <a:t>slightly</a:t>
            </a:r>
            <a:r>
              <a:rPr lang="da-DK" dirty="0">
                <a:sym typeface="Wingdings" panose="05000000000000000000" pitchFamily="2" charset="2"/>
              </a:rPr>
              <a:t> more </a:t>
            </a:r>
            <a:r>
              <a:rPr lang="da-DK" dirty="0" err="1">
                <a:sym typeface="Wingdings" panose="05000000000000000000" pitchFamily="2" charset="2"/>
              </a:rPr>
              <a:t>legable</a:t>
            </a:r>
            <a:r>
              <a:rPr lang="da-DK" dirty="0">
                <a:sym typeface="Wingdings" panose="05000000000000000000" pitchFamily="2" charset="2"/>
              </a:rPr>
              <a:t> label </a:t>
            </a:r>
            <a:r>
              <a:rPr lang="da-DK" dirty="0" err="1">
                <a:sym typeface="Wingdings" panose="05000000000000000000" pitchFamily="2" charset="2"/>
              </a:rPr>
              <a:t>network</a:t>
            </a:r>
            <a:r>
              <a:rPr lang="da-DK" dirty="0">
                <a:sym typeface="Wingdings" panose="05000000000000000000" pitchFamily="2" charset="2"/>
              </a:rPr>
              <a:t> plots</a:t>
            </a:r>
          </a:p>
          <a:p>
            <a:r>
              <a:rPr lang="da-DK" dirty="0">
                <a:sym typeface="Wingdings" panose="05000000000000000000" pitchFamily="2" charset="2"/>
              </a:rPr>
              <a:t> I have </a:t>
            </a:r>
            <a:r>
              <a:rPr lang="da-DK" dirty="0" err="1">
                <a:sym typeface="Wingdings" panose="05000000000000000000" pitchFamily="2" charset="2"/>
              </a:rPr>
              <a:t>filtered</a:t>
            </a:r>
            <a:r>
              <a:rPr lang="da-DK" dirty="0">
                <a:sym typeface="Wingdings" panose="05000000000000000000" pitchFamily="2" charset="2"/>
              </a:rPr>
              <a:t> out the </a:t>
            </a:r>
            <a:r>
              <a:rPr lang="da-DK" dirty="0" err="1">
                <a:sym typeface="Wingdings" panose="05000000000000000000" pitchFamily="2" charset="2"/>
              </a:rPr>
              <a:t>network</a:t>
            </a:r>
            <a:r>
              <a:rPr lang="da-DK" dirty="0">
                <a:sym typeface="Wingdings" panose="05000000000000000000" pitchFamily="2" charset="2"/>
              </a:rPr>
              <a:t> data to </a:t>
            </a:r>
            <a:r>
              <a:rPr lang="da-DK" dirty="0" err="1">
                <a:sym typeface="Wingdings" panose="05000000000000000000" pitchFamily="2" charset="2"/>
              </a:rPr>
              <a:t>be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only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those</a:t>
            </a:r>
            <a:r>
              <a:rPr lang="da-DK" dirty="0">
                <a:sym typeface="Wingdings" panose="05000000000000000000" pitchFamily="2" charset="2"/>
              </a:rPr>
              <a:t> labels </a:t>
            </a:r>
            <a:r>
              <a:rPr lang="da-DK" dirty="0" err="1">
                <a:sym typeface="Wingdings" panose="05000000000000000000" pitchFamily="2" charset="2"/>
              </a:rPr>
              <a:t>that</a:t>
            </a:r>
            <a:r>
              <a:rPr lang="da-DK" dirty="0">
                <a:sym typeface="Wingdings" panose="05000000000000000000" pitchFamily="2" charset="2"/>
              </a:rPr>
              <a:t> have &gt; median </a:t>
            </a:r>
            <a:r>
              <a:rPr lang="da-DK" dirty="0" err="1">
                <a:sym typeface="Wingdings" panose="05000000000000000000" pitchFamily="2" charset="2"/>
              </a:rPr>
              <a:t>edge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number</a:t>
            </a:r>
            <a:r>
              <a:rPr lang="da-DK" dirty="0">
                <a:sym typeface="Wingdings" panose="05000000000000000000" pitchFamily="2" charset="2"/>
              </a:rPr>
              <a:t> (9 </a:t>
            </a:r>
            <a:r>
              <a:rPr lang="da-DK" dirty="0" err="1">
                <a:sym typeface="Wingdings" panose="05000000000000000000" pitchFamily="2" charset="2"/>
              </a:rPr>
              <a:t>edges</a:t>
            </a:r>
            <a:r>
              <a:rPr lang="da-DK" dirty="0">
                <a:sym typeface="Wingdings" panose="05000000000000000000" pitchFamily="2" charset="2"/>
              </a:rPr>
              <a:t>).  </a:t>
            </a:r>
          </a:p>
          <a:p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r>
              <a:rPr lang="da-DK" dirty="0">
                <a:latin typeface="Lato" panose="020F0502020204030203" pitchFamily="34" charset="0"/>
                <a:sym typeface="Wingdings" panose="05000000000000000000" pitchFamily="2" charset="2"/>
              </a:rPr>
              <a:t>Total:</a:t>
            </a:r>
          </a:p>
          <a:p>
            <a:r>
              <a:rPr lang="da-DK" b="0" i="0" dirty="0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738 </a:t>
            </a:r>
            <a:r>
              <a:rPr lang="da-DK" b="0" i="0" dirty="0" err="1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edge</a:t>
            </a:r>
            <a:r>
              <a:rPr lang="da-DK" b="0" i="0" dirty="0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 </a:t>
            </a:r>
            <a:r>
              <a:rPr lang="da-DK" b="0" i="0" dirty="0" err="1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interactions</a:t>
            </a:r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r>
              <a:rPr lang="da-DK" dirty="0">
                <a:latin typeface="Lato" panose="020F0502020204030203" pitchFamily="34" charset="0"/>
                <a:sym typeface="Wingdings" panose="05000000000000000000" pitchFamily="2" charset="2"/>
              </a:rPr>
              <a:t>54 </a:t>
            </a:r>
            <a:r>
              <a:rPr lang="da-DK" dirty="0" err="1">
                <a:latin typeface="Lato" panose="020F0502020204030203" pitchFamily="34" charset="0"/>
                <a:sym typeface="Wingdings" panose="05000000000000000000" pitchFamily="2" charset="2"/>
              </a:rPr>
              <a:t>vertices</a:t>
            </a:r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br>
              <a:rPr lang="en-US" dirty="0"/>
            </a:br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4" name="Picture 3" descr="Timeline&#10;&#10;Description automatically generated">
            <a:extLst>
              <a:ext uri="{FF2B5EF4-FFF2-40B4-BE49-F238E27FC236}">
                <a16:creationId xmlns:a16="http://schemas.microsoft.com/office/drawing/2014/main" id="{0646255D-D256-89E8-AA19-63BA8408C6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8393" y="0"/>
            <a:ext cx="65018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4332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3DD500-8D42-8A4F-1536-B593AFBCEBFE}"/>
              </a:ext>
            </a:extLst>
          </p:cNvPr>
          <p:cNvSpPr txBox="1"/>
          <p:nvPr/>
        </p:nvSpPr>
        <p:spPr>
          <a:xfrm>
            <a:off x="349513" y="613246"/>
            <a:ext cx="465772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Second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endParaRPr lang="da-DK" sz="1600" b="1" dirty="0"/>
          </a:p>
          <a:p>
            <a:endParaRPr lang="da-DK" sz="1200" dirty="0"/>
          </a:p>
          <a:p>
            <a:endParaRPr lang="da-DK" dirty="0">
              <a:sym typeface="Wingdings" panose="05000000000000000000" pitchFamily="2" charset="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BDD47C-F9D6-AB23-69D0-414521EF3EFD}"/>
              </a:ext>
            </a:extLst>
          </p:cNvPr>
          <p:cNvSpPr txBox="1"/>
          <p:nvPr/>
        </p:nvSpPr>
        <p:spPr>
          <a:xfrm>
            <a:off x="349513" y="1731812"/>
            <a:ext cx="1184248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18 unique search terms with exactly = TRUE</a:t>
            </a:r>
          </a:p>
          <a:p>
            <a:endParaRPr lang="en-US" dirty="0"/>
          </a:p>
          <a:p>
            <a:r>
              <a:rPr lang="en-US" b="1" dirty="0"/>
              <a:t> </a:t>
            </a:r>
            <a:r>
              <a:rPr lang="en-US" b="1" dirty="0" err="1"/>
              <a:t>search.term</a:t>
            </a:r>
            <a:r>
              <a:rPr lang="en-US" b="1" dirty="0"/>
              <a:t>                              </a:t>
            </a:r>
            <a:r>
              <a:rPr lang="en-US" b="1" dirty="0" err="1"/>
              <a:t>nmbr</a:t>
            </a:r>
            <a:r>
              <a:rPr lang="en-US" b="1" dirty="0"/>
              <a:t>. of documents pulled.     </a:t>
            </a:r>
            <a:r>
              <a:rPr lang="en-US" b="1" dirty="0" err="1"/>
              <a:t>Nmbr</a:t>
            </a:r>
            <a:r>
              <a:rPr lang="en-US" b="1" dirty="0"/>
              <a:t>. Of </a:t>
            </a:r>
            <a:r>
              <a:rPr lang="en-US" b="1" dirty="0" err="1"/>
              <a:t>mpas</a:t>
            </a:r>
            <a:r>
              <a:rPr lang="en-US" b="1" dirty="0"/>
              <a:t>        </a:t>
            </a:r>
            <a:r>
              <a:rPr lang="en-US" b="1" dirty="0" err="1"/>
              <a:t>Nmbr</a:t>
            </a:r>
            <a:r>
              <a:rPr lang="en-US" b="1" dirty="0"/>
              <a:t>. Of EU countries linked via </a:t>
            </a:r>
            <a:r>
              <a:rPr lang="en-US" b="1" dirty="0" err="1"/>
              <a:t>mpa</a:t>
            </a:r>
            <a:r>
              <a:rPr lang="en-US" b="1" dirty="0"/>
              <a:t> </a:t>
            </a:r>
            <a:r>
              <a:rPr lang="en-US" b="1" dirty="0" err="1"/>
              <a:t>desig</a:t>
            </a:r>
            <a:r>
              <a:rPr lang="en-US" b="1" dirty="0"/>
              <a:t>.</a:t>
            </a:r>
          </a:p>
          <a:p>
            <a:r>
              <a:rPr lang="en-US" dirty="0"/>
              <a:t> </a:t>
            </a:r>
            <a:r>
              <a:rPr lang="en-US" dirty="0" err="1"/>
              <a:t>barcelona</a:t>
            </a:r>
            <a:r>
              <a:rPr lang="en-US" dirty="0"/>
              <a:t> convention*?               	37			24			4</a:t>
            </a:r>
          </a:p>
          <a:p>
            <a:r>
              <a:rPr lang="en-US" dirty="0"/>
              <a:t> birds directive*?                            	6			843			23</a:t>
            </a:r>
          </a:p>
          <a:p>
            <a:r>
              <a:rPr lang="en-US" dirty="0"/>
              <a:t> habitats directive*?                      	56			1869			22</a:t>
            </a:r>
          </a:p>
          <a:p>
            <a:r>
              <a:rPr lang="en-US" dirty="0"/>
              <a:t> </a:t>
            </a:r>
            <a:r>
              <a:rPr lang="en-US" dirty="0" err="1"/>
              <a:t>helcom</a:t>
            </a:r>
            <a:r>
              <a:rPr lang="en-US" dirty="0"/>
              <a:t>*?                                       	12			163			8</a:t>
            </a:r>
          </a:p>
          <a:p>
            <a:r>
              <a:rPr lang="en-US" dirty="0"/>
              <a:t> marine protected area*?            	18			441 			10</a:t>
            </a:r>
          </a:p>
          <a:p>
            <a:r>
              <a:rPr lang="en-US" dirty="0"/>
              <a:t> </a:t>
            </a:r>
            <a:r>
              <a:rPr lang="en-US" dirty="0" err="1"/>
              <a:t>ospar</a:t>
            </a:r>
            <a:r>
              <a:rPr lang="en-US" dirty="0"/>
              <a:t>*?                                          	19			441			10</a:t>
            </a:r>
          </a:p>
          <a:p>
            <a:r>
              <a:rPr lang="en-US" dirty="0"/>
              <a:t> </a:t>
            </a:r>
            <a:r>
              <a:rPr lang="en-US" dirty="0" err="1"/>
              <a:t>ramsar</a:t>
            </a:r>
            <a:r>
              <a:rPr lang="en-US" dirty="0"/>
              <a:t> site*?                                	1			237			18</a:t>
            </a:r>
          </a:p>
          <a:p>
            <a:r>
              <a:rPr lang="en-US" dirty="0"/>
              <a:t> sites of community importance*?         5			481			18</a:t>
            </a:r>
          </a:p>
          <a:p>
            <a:r>
              <a:rPr lang="en-US" dirty="0"/>
              <a:t> special areas of conservation*?    	16			1388			19</a:t>
            </a:r>
          </a:p>
          <a:p>
            <a:r>
              <a:rPr lang="en-US" dirty="0"/>
              <a:t> special protection area*?           	7			843			23</a:t>
            </a:r>
          </a:p>
          <a:p>
            <a:r>
              <a:rPr lang="en-US" dirty="0"/>
              <a:t> world heritage site*?               	2			9			4</a:t>
            </a:r>
            <a:endParaRPr lang="da-DK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EC6929-0CE5-D7F4-FC71-56FFB714D1FE}"/>
              </a:ext>
            </a:extLst>
          </p:cNvPr>
          <p:cNvSpPr txBox="1"/>
          <p:nvPr/>
        </p:nvSpPr>
        <p:spPr>
          <a:xfrm>
            <a:off x="4113344" y="213136"/>
            <a:ext cx="8078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/>
              <a:t>*</a:t>
            </a:r>
            <a:r>
              <a:rPr lang="da-DK" dirty="0"/>
              <a:t>The </a:t>
            </a:r>
            <a:r>
              <a:rPr lang="da-DK" dirty="0" err="1"/>
              <a:t>search</a:t>
            </a:r>
            <a:r>
              <a:rPr lang="da-DK" dirty="0"/>
              <a:t> terms </a:t>
            </a:r>
            <a:r>
              <a:rPr lang="da-DK" dirty="0" err="1"/>
              <a:t>are</a:t>
            </a:r>
            <a:r>
              <a:rPr lang="da-DK" dirty="0"/>
              <a:t> the designation </a:t>
            </a:r>
            <a:r>
              <a:rPr lang="da-DK" dirty="0" err="1"/>
              <a:t>names</a:t>
            </a:r>
            <a:r>
              <a:rPr lang="da-DK" dirty="0"/>
              <a:t> for </a:t>
            </a:r>
            <a:r>
              <a:rPr lang="da-DK" dirty="0" err="1"/>
              <a:t>MPAs</a:t>
            </a:r>
            <a:r>
              <a:rPr lang="da-DK" dirty="0"/>
              <a:t> </a:t>
            </a:r>
            <a:r>
              <a:rPr lang="da-DK" dirty="0" err="1"/>
              <a:t>within</a:t>
            </a:r>
            <a:r>
              <a:rPr lang="da-DK" dirty="0"/>
              <a:t> the EU (</a:t>
            </a:r>
            <a:r>
              <a:rPr lang="da-DK" dirty="0" err="1"/>
              <a:t>including</a:t>
            </a:r>
            <a:r>
              <a:rPr lang="da-DK" dirty="0"/>
              <a:t> UK) </a:t>
            </a:r>
            <a:r>
              <a:rPr lang="da-DK" dirty="0" err="1"/>
              <a:t>which</a:t>
            </a:r>
            <a:r>
              <a:rPr lang="da-DK" dirty="0"/>
              <a:t> have a designation type </a:t>
            </a:r>
            <a:r>
              <a:rPr lang="da-DK" dirty="0" err="1"/>
              <a:t>that</a:t>
            </a:r>
            <a:r>
              <a:rPr lang="da-DK" dirty="0"/>
              <a:t> is </a:t>
            </a:r>
            <a:r>
              <a:rPr lang="da-DK" dirty="0" err="1"/>
              <a:t>defined</a:t>
            </a:r>
            <a:r>
              <a:rPr lang="da-DK" dirty="0"/>
              <a:t> as International or Regional </a:t>
            </a:r>
          </a:p>
        </p:txBody>
      </p:sp>
    </p:spTree>
    <p:extLst>
      <p:ext uri="{BB962C8B-B14F-4D97-AF65-F5344CB8AC3E}">
        <p14:creationId xmlns:p14="http://schemas.microsoft.com/office/powerpoint/2010/main" val="722555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439331-2E1F-C284-4D8F-5F2B38B5EBC2}"/>
              </a:ext>
            </a:extLst>
          </p:cNvPr>
          <p:cNvSpPr txBox="1"/>
          <p:nvPr/>
        </p:nvSpPr>
        <p:spPr>
          <a:xfrm>
            <a:off x="130768" y="958634"/>
            <a:ext cx="4189386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b="1" dirty="0"/>
              <a:t>Second EUR-Lex </a:t>
            </a:r>
            <a:r>
              <a:rPr lang="da-DK" sz="1200" b="1" dirty="0" err="1"/>
              <a:t>search</a:t>
            </a:r>
            <a:r>
              <a:rPr lang="da-DK" sz="1200" b="1" dirty="0"/>
              <a:t> </a:t>
            </a:r>
            <a:r>
              <a:rPr lang="da-DK" sz="1200" b="1" dirty="0" err="1"/>
              <a:t>query</a:t>
            </a:r>
            <a:endParaRPr lang="da-DK" sz="1200" b="1" dirty="0"/>
          </a:p>
          <a:p>
            <a:endParaRPr lang="da-DK" sz="12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Resulted</a:t>
            </a:r>
            <a:r>
              <a:rPr lang="da-DK" sz="1200" dirty="0">
                <a:sym typeface="Wingdings" panose="05000000000000000000" pitchFamily="2" charset="2"/>
              </a:rPr>
              <a:t> in 179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41 decisions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16 </a:t>
            </a:r>
            <a:r>
              <a:rPr lang="da-DK" sz="1200" dirty="0" err="1">
                <a:sym typeface="Wingdings" panose="05000000000000000000" pitchFamily="2" charset="2"/>
              </a:rPr>
              <a:t>directives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83 opinions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 </a:t>
            </a:r>
            <a:r>
              <a:rPr lang="da-DK" sz="1200" dirty="0" err="1">
                <a:sym typeface="Wingdings" panose="05000000000000000000" pitchFamily="2" charset="2"/>
              </a:rPr>
              <a:t>recomendation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36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95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another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There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515 </a:t>
            </a:r>
            <a:r>
              <a:rPr lang="da-DK" sz="1200" dirty="0" err="1">
                <a:sym typeface="Wingdings" panose="05000000000000000000" pitchFamily="2" charset="2"/>
              </a:rPr>
              <a:t>distinct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 citations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b="1" dirty="0" err="1">
                <a:sym typeface="Wingdings" panose="05000000000000000000" pitchFamily="2" charset="2"/>
              </a:rPr>
              <a:t>Within</a:t>
            </a:r>
            <a:r>
              <a:rPr lang="da-DK" sz="1200" b="1" dirty="0">
                <a:sym typeface="Wingdings" panose="05000000000000000000" pitchFamily="2" charset="2"/>
              </a:rPr>
              <a:t> the </a:t>
            </a:r>
            <a:r>
              <a:rPr lang="da-DK" sz="1200" b="1" dirty="0" err="1">
                <a:sym typeface="Wingdings" panose="05000000000000000000" pitchFamily="2" charset="2"/>
              </a:rPr>
              <a:t>network</a:t>
            </a:r>
            <a:r>
              <a:rPr lang="da-DK" sz="1200" b="1" dirty="0">
                <a:sym typeface="Wingdings" panose="05000000000000000000" pitchFamily="2" charset="2"/>
              </a:rPr>
              <a:t> plot: 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When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we</a:t>
            </a:r>
            <a:r>
              <a:rPr lang="da-DK" sz="1200" dirty="0">
                <a:sym typeface="Wingdings" panose="05000000000000000000" pitchFamily="2" charset="2"/>
              </a:rPr>
              <a:t> filter for citations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legeslation</a:t>
            </a:r>
            <a:r>
              <a:rPr lang="da-DK" sz="1200" dirty="0">
                <a:sym typeface="Wingdings" panose="05000000000000000000" pitchFamily="2" charset="2"/>
              </a:rPr>
              <a:t>…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85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legislation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317 out of the 515 citations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legislative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21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in the </a:t>
            </a:r>
            <a:r>
              <a:rPr lang="da-DK" sz="1200" dirty="0" err="1">
                <a:sym typeface="Wingdings" panose="05000000000000000000" pitchFamily="2" charset="2"/>
              </a:rPr>
              <a:t>search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results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also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cited</a:t>
            </a:r>
            <a:r>
              <a:rPr lang="da-DK" sz="1200" dirty="0">
                <a:sym typeface="Wingdings" panose="05000000000000000000" pitchFamily="2" charset="2"/>
              </a:rPr>
              <a:t> in </a:t>
            </a:r>
            <a:r>
              <a:rPr lang="da-DK" sz="1200" dirty="0" err="1">
                <a:sym typeface="Wingdings" panose="05000000000000000000" pitchFamily="2" charset="2"/>
              </a:rPr>
              <a:t>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.</a:t>
            </a:r>
            <a:r>
              <a:rPr lang="da-DK" sz="1200" b="1" dirty="0">
                <a:sym typeface="Wingdings" panose="05000000000000000000" pitchFamily="2" charset="2"/>
              </a:rPr>
              <a:t>)</a:t>
            </a:r>
          </a:p>
          <a:p>
            <a:endParaRPr lang="da-DK" sz="1200" dirty="0">
              <a:sym typeface="Wingdings" panose="05000000000000000000" pitchFamily="2" charset="2"/>
            </a:endParaRP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 Total:</a:t>
            </a:r>
          </a:p>
          <a:p>
            <a:r>
              <a:rPr lang="da-DK" sz="1200" dirty="0">
                <a:sym typeface="Wingdings" panose="05000000000000000000" pitchFamily="2" charset="2"/>
              </a:rPr>
              <a:t>381 </a:t>
            </a:r>
            <a:r>
              <a:rPr lang="da-DK" sz="1200" dirty="0" err="1">
                <a:sym typeface="Wingdings" panose="05000000000000000000" pitchFamily="2" charset="2"/>
              </a:rPr>
              <a:t>vertices</a:t>
            </a: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1,162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interactions</a:t>
            </a:r>
            <a:endParaRPr lang="da-DK" sz="1200" dirty="0">
              <a:sym typeface="Wingdings" panose="05000000000000000000" pitchFamily="2" charset="2"/>
            </a:endParaRPr>
          </a:p>
          <a:p>
            <a:endParaRPr lang="da-DK" dirty="0"/>
          </a:p>
        </p:txBody>
      </p:sp>
      <p:pic>
        <p:nvPicPr>
          <p:cNvPr id="4" name="Picture 3" descr="Chart, scatter chart&#10;&#10;Description automatically generated">
            <a:extLst>
              <a:ext uri="{FF2B5EF4-FFF2-40B4-BE49-F238E27FC236}">
                <a16:creationId xmlns:a16="http://schemas.microsoft.com/office/drawing/2014/main" id="{29370135-16BE-D2B6-EA00-2711845D50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661"/>
          <a:stretch/>
        </p:blipFill>
        <p:spPr>
          <a:xfrm>
            <a:off x="4421491" y="0"/>
            <a:ext cx="77628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9045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43CD55C-87DA-30A3-2BE6-8376C069B86F}"/>
              </a:ext>
            </a:extLst>
          </p:cNvPr>
          <p:cNvSpPr txBox="1">
            <a:spLocks/>
          </p:cNvSpPr>
          <p:nvPr/>
        </p:nvSpPr>
        <p:spPr>
          <a:xfrm>
            <a:off x="372849" y="718870"/>
            <a:ext cx="4579937" cy="3811588"/>
          </a:xfrm>
          <a:prstGeom prst="rect">
            <a:avLst/>
          </a:prstGeom>
        </p:spPr>
        <p:txBody>
          <a:bodyPr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da-DK" sz="1700" b="1" dirty="0"/>
              <a:t>First EUR-Lex </a:t>
            </a:r>
            <a:r>
              <a:rPr lang="da-DK" sz="1700" b="1" dirty="0" err="1"/>
              <a:t>search</a:t>
            </a:r>
            <a:r>
              <a:rPr lang="da-DK" sz="1700" b="1" dirty="0"/>
              <a:t> </a:t>
            </a:r>
            <a:r>
              <a:rPr lang="da-DK" sz="1700" b="1" dirty="0" err="1"/>
              <a:t>query</a:t>
            </a:r>
            <a:r>
              <a:rPr lang="da-DK" sz="1700" b="1" dirty="0"/>
              <a:t> ”marine </a:t>
            </a:r>
            <a:r>
              <a:rPr lang="da-DK" sz="1700" b="1" dirty="0" err="1"/>
              <a:t>protected</a:t>
            </a:r>
            <a:r>
              <a:rPr lang="da-DK" sz="1700" b="1" dirty="0"/>
              <a:t>”, </a:t>
            </a:r>
            <a:r>
              <a:rPr lang="da-DK" sz="1700" b="1" dirty="0" err="1"/>
              <a:t>exactly</a:t>
            </a:r>
            <a:r>
              <a:rPr lang="da-DK" sz="1700" b="1" dirty="0"/>
              <a:t>=TRUE</a:t>
            </a:r>
          </a:p>
          <a:p>
            <a:pPr>
              <a:lnSpc>
                <a:spcPct val="100000"/>
              </a:lnSpc>
            </a:pPr>
            <a:endParaRPr lang="da-DK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1065 </a:t>
            </a:r>
            <a:r>
              <a:rPr lang="da-DK" dirty="0" err="1">
                <a:sym typeface="Wingdings" panose="05000000000000000000" pitchFamily="2" charset="2"/>
              </a:rPr>
              <a:t>distinct</a:t>
            </a:r>
            <a:r>
              <a:rPr lang="da-DK" dirty="0">
                <a:sym typeface="Wingdings" panose="05000000000000000000" pitchFamily="2" charset="2"/>
              </a:rPr>
              <a:t> legislative </a:t>
            </a:r>
            <a:r>
              <a:rPr lang="da-DK" dirty="0" err="1">
                <a:sym typeface="Wingdings" panose="05000000000000000000" pitchFamily="2" charset="2"/>
              </a:rPr>
              <a:t>documents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are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</a:t>
            </a:r>
            <a:r>
              <a:rPr lang="da-DK" dirty="0" err="1"/>
              <a:t>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citations´.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312 citations </a:t>
            </a:r>
            <a:r>
              <a:rPr lang="da-DK" dirty="0" err="1"/>
              <a:t>cite</a:t>
            </a:r>
            <a:r>
              <a:rPr lang="da-DK" dirty="0"/>
              <a:t> </a:t>
            </a:r>
            <a:r>
              <a:rPr lang="da-DK" dirty="0" err="1"/>
              <a:t>another</a:t>
            </a:r>
            <a:r>
              <a:rPr lang="da-DK" dirty="0"/>
              <a:t> legislative </a:t>
            </a:r>
            <a:r>
              <a:rPr lang="da-DK" dirty="0" err="1"/>
              <a:t>document</a:t>
            </a:r>
            <a:endParaRPr lang="da-DK" dirty="0"/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3 new </a:t>
            </a:r>
            <a:r>
              <a:rPr lang="da-DK" dirty="0" err="1"/>
              <a:t>documents</a:t>
            </a:r>
            <a:r>
              <a:rPr lang="da-DK" dirty="0"/>
              <a:t> </a:t>
            </a:r>
            <a:r>
              <a:rPr lang="da-DK" dirty="0" err="1"/>
              <a:t>now</a:t>
            </a:r>
            <a:r>
              <a:rPr lang="da-DK" dirty="0"/>
              <a:t> </a:t>
            </a:r>
            <a:r>
              <a:rPr lang="da-DK" dirty="0" err="1"/>
              <a:t>added</a:t>
            </a:r>
            <a:r>
              <a:rPr lang="da-DK" dirty="0"/>
              <a:t> to the </a:t>
            </a:r>
            <a:r>
              <a:rPr lang="da-DK" dirty="0" err="1"/>
              <a:t>both</a:t>
            </a:r>
            <a:r>
              <a:rPr lang="da-DK" dirty="0"/>
              <a:t> </a:t>
            </a:r>
            <a:r>
              <a:rPr lang="da-DK" dirty="0" err="1"/>
              <a:t>category</a:t>
            </a:r>
            <a:r>
              <a:rPr lang="da-DK" dirty="0"/>
              <a:t>. </a:t>
            </a:r>
          </a:p>
          <a:p>
            <a:pPr marL="742950" lvl="1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pulled from the </a:t>
            </a:r>
            <a:r>
              <a:rPr lang="da-DK" dirty="0" err="1"/>
              <a:t>search</a:t>
            </a:r>
            <a:r>
              <a:rPr lang="da-DK" dirty="0"/>
              <a:t> </a:t>
            </a:r>
            <a:r>
              <a:rPr lang="da-DK" dirty="0" err="1"/>
              <a:t>result</a:t>
            </a:r>
            <a:r>
              <a:rPr lang="da-DK" dirty="0"/>
              <a:t> and is a </a:t>
            </a:r>
            <a:r>
              <a:rPr lang="da-DK" dirty="0" err="1"/>
              <a:t>second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  </a:t>
            </a:r>
          </a:p>
          <a:p>
            <a:pPr>
              <a:lnSpc>
                <a:spcPct val="100000"/>
              </a:lnSpc>
            </a:pP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Total: </a:t>
            </a:r>
          </a:p>
          <a:p>
            <a:pPr>
              <a:lnSpc>
                <a:spcPct val="100000"/>
              </a:lnSpc>
            </a:pPr>
            <a:r>
              <a:rPr lang="da-DK" dirty="0"/>
              <a:t>1126 </a:t>
            </a:r>
            <a:r>
              <a:rPr lang="da-DK" dirty="0" err="1"/>
              <a:t>vertices</a:t>
            </a: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5340 </a:t>
            </a:r>
            <a:r>
              <a:rPr lang="da-DK" dirty="0" err="1"/>
              <a:t>edge</a:t>
            </a:r>
            <a:r>
              <a:rPr lang="da-DK" dirty="0"/>
              <a:t> </a:t>
            </a:r>
            <a:r>
              <a:rPr lang="da-DK" dirty="0" err="1"/>
              <a:t>interactions</a:t>
            </a:r>
            <a:endParaRPr lang="da-DK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371E05-DDFB-9FAB-0B99-C788CC000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9698" y="1119883"/>
            <a:ext cx="7152301" cy="5614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0696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16A0F9-1F74-543F-8D97-EB75A76CE5DB}"/>
              </a:ext>
            </a:extLst>
          </p:cNvPr>
          <p:cNvSpPr txBox="1"/>
          <p:nvPr/>
        </p:nvSpPr>
        <p:spPr>
          <a:xfrm>
            <a:off x="164670" y="823831"/>
            <a:ext cx="3492931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 err="1"/>
              <a:t>second</a:t>
            </a:r>
            <a:r>
              <a:rPr lang="da-DK" sz="1600" b="1" dirty="0"/>
              <a:t>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endParaRPr lang="da-DK" sz="1200" dirty="0"/>
          </a:p>
          <a:p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EUROVOC term labels and </a:t>
            </a:r>
            <a:r>
              <a:rPr lang="da-DK" sz="1200" dirty="0" err="1">
                <a:sym typeface="Wingdings" panose="05000000000000000000" pitchFamily="2" charset="2"/>
              </a:rPr>
              <a:t>themes</a:t>
            </a:r>
            <a:r>
              <a:rPr lang="da-DK" sz="1200" dirty="0">
                <a:sym typeface="Wingdings" panose="05000000000000000000" pitchFamily="2" charset="2"/>
              </a:rPr>
              <a:t> for the 179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results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403 </a:t>
            </a:r>
            <a:r>
              <a:rPr lang="da-DK" sz="1200" dirty="0" err="1">
                <a:sym typeface="Wingdings" panose="05000000000000000000" pitchFamily="2" charset="2"/>
              </a:rPr>
              <a:t>eurovoc</a:t>
            </a:r>
            <a:r>
              <a:rPr lang="da-DK" sz="1200" dirty="0">
                <a:sym typeface="Wingdings" panose="05000000000000000000" pitchFamily="2" charset="2"/>
              </a:rPr>
              <a:t> labels </a:t>
            </a:r>
            <a:r>
              <a:rPr lang="da-DK" sz="1200" dirty="0" err="1">
                <a:sym typeface="Wingdings" panose="05000000000000000000" pitchFamily="2" charset="2"/>
              </a:rPr>
              <a:t>associated</a:t>
            </a:r>
            <a:r>
              <a:rPr lang="da-DK" sz="1200" dirty="0">
                <a:sym typeface="Wingdings" panose="05000000000000000000" pitchFamily="2" charset="2"/>
              </a:rPr>
              <a:t> to 79 </a:t>
            </a:r>
            <a:r>
              <a:rPr lang="da-DK" sz="1200" dirty="0" err="1">
                <a:sym typeface="Wingdings" panose="05000000000000000000" pitchFamily="2" charset="2"/>
              </a:rPr>
              <a:t>themes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In total </a:t>
            </a:r>
            <a:r>
              <a:rPr lang="da-DK" sz="1200" dirty="0" err="1">
                <a:sym typeface="Wingdings" panose="05000000000000000000" pitchFamily="2" charset="2"/>
              </a:rPr>
              <a:t>there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2,627 term </a:t>
            </a:r>
            <a:r>
              <a:rPr lang="da-DK" sz="1200" dirty="0" err="1">
                <a:sym typeface="Wingdings" panose="05000000000000000000" pitchFamily="2" charset="2"/>
              </a:rPr>
              <a:t>co-occurance</a:t>
            </a:r>
            <a:r>
              <a:rPr lang="da-DK" sz="1200" dirty="0">
                <a:sym typeface="Wingdings" panose="05000000000000000000" pitchFamily="2" charset="2"/>
              </a:rPr>
              <a:t> pairs. (</a:t>
            </a:r>
            <a:r>
              <a:rPr lang="da-DK" sz="1200" dirty="0" err="1">
                <a:sym typeface="Wingdings" panose="05000000000000000000" pitchFamily="2" charset="2"/>
              </a:rPr>
              <a:t>Nmbr</a:t>
            </a:r>
            <a:r>
              <a:rPr lang="da-DK" sz="1200" dirty="0">
                <a:sym typeface="Wingdings" panose="05000000000000000000" pitchFamily="2" charset="2"/>
              </a:rPr>
              <a:t> of times terms </a:t>
            </a:r>
            <a:r>
              <a:rPr lang="da-DK" sz="1200" dirty="0" err="1">
                <a:sym typeface="Wingdings" panose="05000000000000000000" pitchFamily="2" charset="2"/>
              </a:rPr>
              <a:t>appear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within</a:t>
            </a:r>
            <a:r>
              <a:rPr lang="da-DK" sz="1200" dirty="0">
                <a:sym typeface="Wingdings" panose="05000000000000000000" pitchFamily="2" charset="2"/>
              </a:rPr>
              <a:t> a EU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)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Min </a:t>
            </a:r>
            <a:r>
              <a:rPr lang="da-DK" sz="1200" dirty="0" err="1">
                <a:sym typeface="Wingdings" panose="05000000000000000000" pitchFamily="2" charset="2"/>
              </a:rPr>
              <a:t>number</a:t>
            </a:r>
            <a:r>
              <a:rPr lang="da-DK" sz="1200" dirty="0">
                <a:sym typeface="Wingdings" panose="05000000000000000000" pitchFamily="2" charset="2"/>
              </a:rPr>
              <a:t> of </a:t>
            </a:r>
            <a:r>
              <a:rPr lang="da-DK" sz="1200" dirty="0" err="1">
                <a:sym typeface="Wingdings" panose="05000000000000000000" pitchFamily="2" charset="2"/>
              </a:rPr>
              <a:t>counts</a:t>
            </a:r>
            <a:r>
              <a:rPr lang="da-DK" sz="1200" dirty="0">
                <a:sym typeface="Wingdings" panose="05000000000000000000" pitchFamily="2" charset="2"/>
              </a:rPr>
              <a:t> is 1 and the </a:t>
            </a:r>
            <a:r>
              <a:rPr lang="da-DK" sz="1200" dirty="0" err="1">
                <a:sym typeface="Wingdings" panose="05000000000000000000" pitchFamily="2" charset="2"/>
              </a:rPr>
              <a:t>maximum</a:t>
            </a:r>
            <a:r>
              <a:rPr lang="da-DK" sz="1200" dirty="0">
                <a:sym typeface="Wingdings" panose="05000000000000000000" pitchFamily="2" charset="2"/>
              </a:rPr>
              <a:t> is 20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To </a:t>
            </a:r>
            <a:r>
              <a:rPr lang="da-DK" sz="1200" dirty="0" err="1">
                <a:sym typeface="Wingdings" panose="05000000000000000000" pitchFamily="2" charset="2"/>
              </a:rPr>
              <a:t>make</a:t>
            </a:r>
            <a:r>
              <a:rPr lang="da-DK" sz="1200" dirty="0">
                <a:sym typeface="Wingdings" panose="05000000000000000000" pitchFamily="2" charset="2"/>
              </a:rPr>
              <a:t> a </a:t>
            </a:r>
            <a:r>
              <a:rPr lang="da-DK" sz="1200" dirty="0" err="1">
                <a:sym typeface="Wingdings" panose="05000000000000000000" pitchFamily="2" charset="2"/>
              </a:rPr>
              <a:t>slightly</a:t>
            </a:r>
            <a:r>
              <a:rPr lang="da-DK" sz="1200" dirty="0">
                <a:sym typeface="Wingdings" panose="05000000000000000000" pitchFamily="2" charset="2"/>
              </a:rPr>
              <a:t> more </a:t>
            </a:r>
            <a:r>
              <a:rPr lang="da-DK" sz="1200" dirty="0" err="1">
                <a:sym typeface="Wingdings" panose="05000000000000000000" pitchFamily="2" charset="2"/>
              </a:rPr>
              <a:t>legable</a:t>
            </a:r>
            <a:r>
              <a:rPr lang="da-DK" sz="1200" dirty="0">
                <a:sym typeface="Wingdings" panose="05000000000000000000" pitchFamily="2" charset="2"/>
              </a:rPr>
              <a:t> label </a:t>
            </a:r>
            <a:r>
              <a:rPr lang="da-DK" sz="1200" dirty="0" err="1">
                <a:sym typeface="Wingdings" panose="05000000000000000000" pitchFamily="2" charset="2"/>
              </a:rPr>
              <a:t>network</a:t>
            </a:r>
            <a:r>
              <a:rPr lang="da-DK" sz="1200" dirty="0">
                <a:sym typeface="Wingdings" panose="05000000000000000000" pitchFamily="2" charset="2"/>
              </a:rPr>
              <a:t> plots</a:t>
            </a:r>
          </a:p>
          <a:p>
            <a:r>
              <a:rPr lang="da-DK" sz="1200" dirty="0">
                <a:sym typeface="Wingdings" panose="05000000000000000000" pitchFamily="2" charset="2"/>
              </a:rPr>
              <a:t> I have </a:t>
            </a:r>
            <a:r>
              <a:rPr lang="da-DK" sz="1200" dirty="0" err="1">
                <a:sym typeface="Wingdings" panose="05000000000000000000" pitchFamily="2" charset="2"/>
              </a:rPr>
              <a:t>filtered</a:t>
            </a:r>
            <a:r>
              <a:rPr lang="da-DK" sz="1200" dirty="0">
                <a:sym typeface="Wingdings" panose="05000000000000000000" pitchFamily="2" charset="2"/>
              </a:rPr>
              <a:t> out the </a:t>
            </a:r>
            <a:r>
              <a:rPr lang="da-DK" sz="1200" dirty="0" err="1">
                <a:sym typeface="Wingdings" panose="05000000000000000000" pitchFamily="2" charset="2"/>
              </a:rPr>
              <a:t>network</a:t>
            </a:r>
            <a:r>
              <a:rPr lang="da-DK" sz="1200" dirty="0">
                <a:sym typeface="Wingdings" panose="05000000000000000000" pitchFamily="2" charset="2"/>
              </a:rPr>
              <a:t> data to </a:t>
            </a:r>
            <a:r>
              <a:rPr lang="da-DK" sz="1200" dirty="0" err="1">
                <a:sym typeface="Wingdings" panose="05000000000000000000" pitchFamily="2" charset="2"/>
              </a:rPr>
              <a:t>be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those</a:t>
            </a:r>
            <a:r>
              <a:rPr lang="da-DK" sz="1200" dirty="0">
                <a:sym typeface="Wingdings" panose="05000000000000000000" pitchFamily="2" charset="2"/>
              </a:rPr>
              <a:t> labels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have &gt; median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number</a:t>
            </a:r>
            <a:r>
              <a:rPr lang="da-DK" sz="1200" dirty="0">
                <a:sym typeface="Wingdings" panose="05000000000000000000" pitchFamily="2" charset="2"/>
              </a:rPr>
              <a:t> (9 </a:t>
            </a:r>
            <a:r>
              <a:rPr lang="da-DK" sz="1200" dirty="0" err="1">
                <a:sym typeface="Wingdings" panose="05000000000000000000" pitchFamily="2" charset="2"/>
              </a:rPr>
              <a:t>edges</a:t>
            </a:r>
            <a:r>
              <a:rPr lang="da-DK" sz="1200" dirty="0">
                <a:sym typeface="Wingdings" panose="05000000000000000000" pitchFamily="2" charset="2"/>
              </a:rPr>
              <a:t>).  </a:t>
            </a:r>
          </a:p>
          <a:p>
            <a:pPr algn="l"/>
            <a:endParaRPr lang="da-DK" sz="12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Total:</a:t>
            </a: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3,614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interactions</a:t>
            </a: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226 </a:t>
            </a:r>
            <a:r>
              <a:rPr lang="da-DK" sz="1200" dirty="0" err="1">
                <a:sym typeface="Wingdings" panose="05000000000000000000" pitchFamily="2" charset="2"/>
              </a:rPr>
              <a:t>vertices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The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had more </a:t>
            </a:r>
            <a:r>
              <a:rPr lang="da-DK" sz="1200" dirty="0" err="1">
                <a:sym typeface="Wingdings" panose="05000000000000000000" pitchFamily="2" charset="2"/>
              </a:rPr>
              <a:t>than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theme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associated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those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have a country label. For the sake of </a:t>
            </a:r>
            <a:r>
              <a:rPr lang="da-DK" sz="1200" dirty="0" err="1">
                <a:sym typeface="Wingdings" panose="05000000000000000000" pitchFamily="2" charset="2"/>
              </a:rPr>
              <a:t>simplicity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here</a:t>
            </a:r>
            <a:r>
              <a:rPr lang="da-DK" sz="1200" dirty="0">
                <a:sym typeface="Wingdings" panose="05000000000000000000" pitchFamily="2" charset="2"/>
              </a:rPr>
              <a:t> i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kept</a:t>
            </a:r>
            <a:r>
              <a:rPr lang="da-DK" sz="1200" dirty="0">
                <a:sym typeface="Wingdings" panose="05000000000000000000" pitchFamily="2" charset="2"/>
              </a:rPr>
              <a:t> the </a:t>
            </a:r>
            <a:r>
              <a:rPr lang="da-DK" sz="1200" dirty="0" err="1">
                <a:sym typeface="Wingdings" panose="05000000000000000000" pitchFamily="2" charset="2"/>
              </a:rPr>
              <a:t>continent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theme</a:t>
            </a:r>
            <a:r>
              <a:rPr lang="da-DK" sz="1200" dirty="0">
                <a:sym typeface="Wingdings" panose="05000000000000000000" pitchFamily="2" charset="2"/>
              </a:rPr>
              <a:t> and </a:t>
            </a:r>
            <a:r>
              <a:rPr lang="da-DK" sz="1200" dirty="0" err="1">
                <a:sym typeface="Wingdings" panose="05000000000000000000" pitchFamily="2" charset="2"/>
              </a:rPr>
              <a:t>filtered</a:t>
            </a:r>
            <a:r>
              <a:rPr lang="da-DK" sz="1200" dirty="0">
                <a:sym typeface="Wingdings" panose="05000000000000000000" pitchFamily="2" charset="2"/>
              </a:rPr>
              <a:t> out the </a:t>
            </a:r>
            <a:r>
              <a:rPr lang="da-DK" sz="1200" dirty="0" err="1">
                <a:sym typeface="Wingdings" panose="05000000000000000000" pitchFamily="2" charset="2"/>
              </a:rPr>
              <a:t>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associated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themes</a:t>
            </a:r>
            <a:r>
              <a:rPr lang="da-DK" sz="1200" dirty="0">
                <a:sym typeface="Wingdings" panose="05000000000000000000" pitchFamily="2" charset="2"/>
              </a:rPr>
              <a:t>. </a:t>
            </a:r>
          </a:p>
          <a:p>
            <a:pPr algn="l"/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br>
              <a:rPr lang="en-US" dirty="0"/>
            </a:br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4" name="Picture 3" descr="Timeline&#10;&#10;Description automatically generated">
            <a:extLst>
              <a:ext uri="{FF2B5EF4-FFF2-40B4-BE49-F238E27FC236}">
                <a16:creationId xmlns:a16="http://schemas.microsoft.com/office/drawing/2014/main" id="{B1751CBE-3C60-E267-B40E-CCAFC53FD4A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97" r="3536"/>
          <a:stretch/>
        </p:blipFill>
        <p:spPr>
          <a:xfrm>
            <a:off x="3599480" y="0"/>
            <a:ext cx="85395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044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54756A-6B1F-B0BE-66FA-268FDD5CAE98}"/>
              </a:ext>
            </a:extLst>
          </p:cNvPr>
          <p:cNvSpPr txBox="1"/>
          <p:nvPr/>
        </p:nvSpPr>
        <p:spPr>
          <a:xfrm>
            <a:off x="129502" y="1172279"/>
            <a:ext cx="4773573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What I have for the text data for both queries</a:t>
            </a:r>
          </a:p>
          <a:p>
            <a:endParaRPr lang="en-US" b="1" dirty="0"/>
          </a:p>
          <a:p>
            <a:endParaRPr lang="en-US" sz="1600" b="1" dirty="0"/>
          </a:p>
          <a:p>
            <a:r>
              <a:rPr lang="en-US" sz="1600" dirty="0"/>
              <a:t>Extracted title and body and combined them. </a:t>
            </a:r>
          </a:p>
          <a:p>
            <a:endParaRPr lang="en-US" sz="1600" b="1" dirty="0"/>
          </a:p>
          <a:p>
            <a:r>
              <a:rPr lang="en-US" sz="1600" b="1" dirty="0"/>
              <a:t>For possible text model analysis: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Converted to lowercase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Removed numbers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Removed punctuation and special characters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Remove stop words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Stemmed words</a:t>
            </a:r>
            <a:endParaRPr lang="en-US" sz="1600" dirty="0"/>
          </a:p>
          <a:p>
            <a:endParaRPr lang="en-US" sz="1600" b="1" dirty="0"/>
          </a:p>
          <a:p>
            <a:endParaRPr lang="en-US" sz="1600" b="1" dirty="0"/>
          </a:p>
          <a:p>
            <a:endParaRPr lang="en-US" sz="1600" b="1" dirty="0"/>
          </a:p>
          <a:p>
            <a:endParaRPr lang="en-US" sz="1600" b="1" dirty="0"/>
          </a:p>
          <a:p>
            <a:endParaRPr lang="en-US" sz="1600" b="1" dirty="0"/>
          </a:p>
          <a:p>
            <a:r>
              <a:rPr lang="en-US" sz="1600" b="1" dirty="0"/>
              <a:t>For possible sentiment analysis:</a:t>
            </a:r>
          </a:p>
          <a:p>
            <a:r>
              <a:rPr lang="en-US" sz="1600" dirty="0">
                <a:sym typeface="Wingdings" pitchFamily="2" charset="2"/>
              </a:rPr>
              <a:t> </a:t>
            </a:r>
            <a:r>
              <a:rPr lang="en-US" sz="1600" dirty="0"/>
              <a:t>converted all text to lowercase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Removed numbers and special characters </a:t>
            </a:r>
          </a:p>
          <a:p>
            <a:endParaRPr 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6304A0-57D4-2ED2-E90F-0280FCA7DFB5}"/>
              </a:ext>
            </a:extLst>
          </p:cNvPr>
          <p:cNvSpPr txBox="1"/>
          <p:nvPr/>
        </p:nvSpPr>
        <p:spPr>
          <a:xfrm>
            <a:off x="4642290" y="2120948"/>
            <a:ext cx="4200760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EUR-Lex Corpus: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EUR-Lex result Documents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Meta data includes </a:t>
            </a:r>
          </a:p>
          <a:p>
            <a:pPr marL="742950" lvl="1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year/date</a:t>
            </a:r>
          </a:p>
          <a:p>
            <a:pPr marL="742950" lvl="1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enforced(True/False/NA)</a:t>
            </a:r>
          </a:p>
          <a:p>
            <a:pPr marL="742950" lvl="1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Type of leg. (dir., rec., </a:t>
            </a:r>
            <a:r>
              <a:rPr lang="en-US" sz="1600" dirty="0" err="1">
                <a:sym typeface="Wingdings" pitchFamily="2" charset="2"/>
              </a:rPr>
              <a:t>opin</a:t>
            </a:r>
            <a:r>
              <a:rPr lang="en-US" sz="1600" dirty="0">
                <a:sym typeface="Wingdings" pitchFamily="2" charset="2"/>
              </a:rPr>
              <a:t>, </a:t>
            </a:r>
            <a:r>
              <a:rPr lang="en-US" sz="1600" dirty="0" err="1">
                <a:sym typeface="Wingdings" pitchFamily="2" charset="2"/>
              </a:rPr>
              <a:t>etc</a:t>
            </a:r>
            <a:r>
              <a:rPr lang="en-US" sz="1600" dirty="0">
                <a:sym typeface="Wingdings" pitchFamily="2" charset="2"/>
              </a:rPr>
              <a:t>…)</a:t>
            </a:r>
          </a:p>
          <a:p>
            <a:pPr marL="742950" lvl="1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 for the second query we also have the MPA design. Search term</a:t>
            </a:r>
            <a:endParaRPr lang="en-US" sz="1600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C00BAA-F50E-7E36-279E-E61574CC87AB}"/>
              </a:ext>
            </a:extLst>
          </p:cNvPr>
          <p:cNvSpPr txBox="1"/>
          <p:nvPr/>
        </p:nvSpPr>
        <p:spPr>
          <a:xfrm>
            <a:off x="9532131" y="2859613"/>
            <a:ext cx="270828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Document-Term and </a:t>
            </a:r>
          </a:p>
          <a:p>
            <a:r>
              <a:rPr lang="en-US" sz="1600" b="1" dirty="0"/>
              <a:t>Term-Document matrices</a:t>
            </a:r>
            <a:endParaRPr lang="en-US" sz="1600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61427D44-474C-DF99-99AC-1BBC6432CF7F}"/>
              </a:ext>
            </a:extLst>
          </p:cNvPr>
          <p:cNvSpPr/>
          <p:nvPr/>
        </p:nvSpPr>
        <p:spPr>
          <a:xfrm>
            <a:off x="3972910" y="1797269"/>
            <a:ext cx="785648" cy="282202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36009A26-0C4A-919E-5B3D-4329EA8572BD}"/>
              </a:ext>
            </a:extLst>
          </p:cNvPr>
          <p:cNvSpPr/>
          <p:nvPr/>
        </p:nvSpPr>
        <p:spPr>
          <a:xfrm>
            <a:off x="8566494" y="1797269"/>
            <a:ext cx="785648" cy="282202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9231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B07304-B6AC-47B8-CA58-4A667E6847DC}"/>
              </a:ext>
            </a:extLst>
          </p:cNvPr>
          <p:cNvSpPr txBox="1"/>
          <p:nvPr/>
        </p:nvSpPr>
        <p:spPr>
          <a:xfrm>
            <a:off x="300245" y="661366"/>
            <a:ext cx="1164659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 err="1"/>
              <a:t>Moving</a:t>
            </a:r>
            <a:r>
              <a:rPr lang="da-DK" b="1" dirty="0"/>
              <a:t> forwards </a:t>
            </a:r>
            <a:r>
              <a:rPr lang="da-DK" b="1" dirty="0" err="1"/>
              <a:t>what</a:t>
            </a:r>
            <a:r>
              <a:rPr lang="da-DK" b="1" dirty="0"/>
              <a:t> kind of </a:t>
            </a:r>
            <a:r>
              <a:rPr lang="da-DK" b="1" dirty="0" err="1"/>
              <a:t>analysis</a:t>
            </a:r>
            <a:r>
              <a:rPr lang="da-DK" b="1" dirty="0"/>
              <a:t> </a:t>
            </a:r>
            <a:r>
              <a:rPr lang="da-DK" b="1" dirty="0" err="1"/>
              <a:t>should</a:t>
            </a:r>
            <a:r>
              <a:rPr lang="da-DK" b="1" dirty="0"/>
              <a:t> I </a:t>
            </a:r>
            <a:r>
              <a:rPr lang="da-DK" b="1" dirty="0" err="1"/>
              <a:t>preform</a:t>
            </a:r>
            <a:r>
              <a:rPr lang="da-DK" b="1" dirty="0"/>
              <a:t>?</a:t>
            </a:r>
          </a:p>
          <a:p>
            <a:endParaRPr lang="da-DK" b="1" dirty="0"/>
          </a:p>
          <a:p>
            <a:r>
              <a:rPr lang="da-DK" b="1" dirty="0"/>
              <a:t>NETWORKS: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Same </a:t>
            </a:r>
            <a:r>
              <a:rPr lang="da-DK" dirty="0" err="1">
                <a:sym typeface="Wingdings" panose="05000000000000000000" pitchFamily="2" charset="2"/>
              </a:rPr>
              <a:t>ones</a:t>
            </a:r>
            <a:r>
              <a:rPr lang="da-DK" dirty="0">
                <a:sym typeface="Wingdings" panose="05000000000000000000" pitchFamily="2" charset="2"/>
              </a:rPr>
              <a:t> as I did in </a:t>
            </a:r>
            <a:r>
              <a:rPr lang="da-DK" dirty="0" err="1">
                <a:sym typeface="Wingdings" panose="05000000000000000000" pitchFamily="2" charset="2"/>
              </a:rPr>
              <a:t>thesis</a:t>
            </a:r>
            <a:r>
              <a:rPr lang="da-DK" dirty="0">
                <a:sym typeface="Wingdings" panose="05000000000000000000" pitchFamily="2" charset="2"/>
              </a:rPr>
              <a:t>?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Is </a:t>
            </a:r>
            <a:r>
              <a:rPr lang="da-DK" dirty="0" err="1">
                <a:sym typeface="Wingdings" panose="05000000000000000000" pitchFamily="2" charset="2"/>
              </a:rPr>
              <a:t>this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technically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bipartite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since</a:t>
            </a:r>
            <a:r>
              <a:rPr lang="da-DK" dirty="0">
                <a:sym typeface="Wingdings" panose="05000000000000000000" pitchFamily="2" charset="2"/>
              </a:rPr>
              <a:t> a </a:t>
            </a:r>
            <a:r>
              <a:rPr lang="da-DK" dirty="0" err="1">
                <a:sym typeface="Wingdings" panose="05000000000000000000" pitchFamily="2" charset="2"/>
              </a:rPr>
              <a:t>result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document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can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also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be</a:t>
            </a:r>
            <a:r>
              <a:rPr lang="da-DK" dirty="0">
                <a:sym typeface="Wingdings" panose="05000000000000000000" pitchFamily="2" charset="2"/>
              </a:rPr>
              <a:t> a citation </a:t>
            </a:r>
          </a:p>
          <a:p>
            <a:pPr marL="1200150" lvl="2" indent="-285750"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In addition </a:t>
            </a:r>
            <a:r>
              <a:rPr lang="da-DK" dirty="0" err="1">
                <a:sym typeface="Wingdings" panose="05000000000000000000" pitchFamily="2" charset="2"/>
              </a:rPr>
              <a:t>now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we</a:t>
            </a:r>
            <a:r>
              <a:rPr lang="da-DK" dirty="0">
                <a:sym typeface="Wingdings" panose="05000000000000000000" pitchFamily="2" charset="2"/>
              </a:rPr>
              <a:t> have </a:t>
            </a:r>
            <a:r>
              <a:rPr lang="da-DK" dirty="0" err="1">
                <a:sym typeface="Wingdings" panose="05000000000000000000" pitchFamily="2" charset="2"/>
              </a:rPr>
              <a:t>three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levels</a:t>
            </a:r>
            <a:r>
              <a:rPr lang="da-DK" dirty="0">
                <a:sym typeface="Wingdings" panose="05000000000000000000" pitchFamily="2" charset="2"/>
              </a:rPr>
              <a:t>, </a:t>
            </a:r>
            <a:r>
              <a:rPr lang="da-DK" dirty="0" err="1">
                <a:sym typeface="Wingdings" panose="05000000000000000000" pitchFamily="2" charset="2"/>
              </a:rPr>
              <a:t>result</a:t>
            </a:r>
            <a:r>
              <a:rPr lang="da-DK" dirty="0">
                <a:sym typeface="Wingdings" panose="05000000000000000000" pitchFamily="2" charset="2"/>
              </a:rPr>
              <a:t> doc, 1st </a:t>
            </a:r>
            <a:r>
              <a:rPr lang="da-DK" dirty="0" err="1">
                <a:sym typeface="Wingdings" panose="05000000000000000000" pitchFamily="2" charset="2"/>
              </a:rPr>
              <a:t>order</a:t>
            </a:r>
            <a:r>
              <a:rPr lang="da-DK" dirty="0">
                <a:sym typeface="Wingdings" panose="05000000000000000000" pitchFamily="2" charset="2"/>
              </a:rPr>
              <a:t> citation and </a:t>
            </a:r>
            <a:r>
              <a:rPr lang="da-DK" dirty="0" err="1">
                <a:sym typeface="Wingdings" panose="05000000000000000000" pitchFamily="2" charset="2"/>
              </a:rPr>
              <a:t>second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order</a:t>
            </a:r>
            <a:r>
              <a:rPr lang="da-DK" dirty="0">
                <a:sym typeface="Wingdings" panose="05000000000000000000" pitchFamily="2" charset="2"/>
              </a:rPr>
              <a:t> citation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A </a:t>
            </a:r>
            <a:r>
              <a:rPr lang="da-DK" dirty="0" err="1">
                <a:sym typeface="Wingdings" panose="05000000000000000000" pitchFamily="2" charset="2"/>
              </a:rPr>
              <a:t>particular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analysis</a:t>
            </a:r>
            <a:r>
              <a:rPr lang="da-DK" dirty="0">
                <a:sym typeface="Wingdings" panose="05000000000000000000" pitchFamily="2" charset="2"/>
              </a:rPr>
              <a:t> for the term </a:t>
            </a:r>
            <a:r>
              <a:rPr lang="da-DK" dirty="0" err="1">
                <a:sym typeface="Wingdings" panose="05000000000000000000" pitchFamily="2" charset="2"/>
              </a:rPr>
              <a:t>ococcurances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network</a:t>
            </a:r>
            <a:r>
              <a:rPr lang="da-DK" dirty="0">
                <a:sym typeface="Wingdings" panose="05000000000000000000" pitchFamily="2" charset="2"/>
              </a:rPr>
              <a:t>?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dirty="0">
              <a:sym typeface="Wingdings" panose="05000000000000000000" pitchFamily="2" charset="2"/>
            </a:endParaRPr>
          </a:p>
          <a:p>
            <a:r>
              <a:rPr lang="da-DK" b="1" dirty="0">
                <a:sym typeface="Wingdings" panose="05000000000000000000" pitchFamily="2" charset="2"/>
              </a:rPr>
              <a:t>TEXT DATA:</a:t>
            </a:r>
          </a:p>
          <a:p>
            <a:r>
              <a:rPr lang="da-DK" dirty="0">
                <a:sym typeface="Wingdings" panose="05000000000000000000" pitchFamily="2" charset="2"/>
              </a:rPr>
              <a:t> Term </a:t>
            </a:r>
            <a:r>
              <a:rPr lang="da-DK" dirty="0" err="1">
                <a:sym typeface="Wingdings" panose="05000000000000000000" pitchFamily="2" charset="2"/>
              </a:rPr>
              <a:t>frequencies</a:t>
            </a:r>
            <a:r>
              <a:rPr lang="da-DK" dirty="0">
                <a:sym typeface="Wingdings" panose="05000000000000000000" pitchFamily="2" charset="2"/>
              </a:rPr>
              <a:t>?</a:t>
            </a:r>
          </a:p>
          <a:p>
            <a:r>
              <a:rPr lang="da-DK" dirty="0">
                <a:sym typeface="Wingdings" pitchFamily="2" charset="2"/>
              </a:rPr>
              <a:t> ?</a:t>
            </a:r>
          </a:p>
        </p:txBody>
      </p:sp>
    </p:spTree>
    <p:extLst>
      <p:ext uri="{BB962C8B-B14F-4D97-AF65-F5344CB8AC3E}">
        <p14:creationId xmlns:p14="http://schemas.microsoft.com/office/powerpoint/2010/main" val="1461501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647</TotalTime>
  <Words>1006</Words>
  <Application>Microsoft Macintosh PowerPoint</Application>
  <PresentationFormat>Widescreen</PresentationFormat>
  <Paragraphs>168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Lato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Anna Elizabeth Jorgensen</dc:creator>
  <cp:lastModifiedBy>Anna Elizabeth Jorgensen</cp:lastModifiedBy>
  <cp:revision>13</cp:revision>
  <dcterms:created xsi:type="dcterms:W3CDTF">2022-09-29T07:12:58Z</dcterms:created>
  <dcterms:modified xsi:type="dcterms:W3CDTF">2022-09-30T11:53:28Z</dcterms:modified>
</cp:coreProperties>
</file>