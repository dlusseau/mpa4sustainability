
<file path=[Content_Types].xml><?xml version="1.0" encoding="utf-8"?>
<Types xmlns="http://schemas.openxmlformats.org/package/2006/content-types">
  <Default Extension="all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0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D2F6-6D98-36D4-B4AE-AC5603F23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426FC-C15A-8944-B4C1-FA8FFD223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1AEF-EFB6-2A55-0C3C-018C4C2A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A636-68E9-4B68-A04B-EC9521FD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7F6C1-8182-8DBC-993D-82637407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056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CDB2-C928-A485-49FF-AE8F8C9B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45CF-F7E7-F96C-0EDE-3A244E27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980FD-D6E7-C901-4C80-512D89A3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4DB30-A90D-B6EC-F3BF-2D138F84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1969-08AE-E8D0-1E21-0848E212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226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AEF6-7D42-1BA5-2889-723C4004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271E8-5488-B6B1-60A1-CEFB2BA7B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6018B-24DA-6D1F-EEC6-2066F618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F1A0-3C47-27E8-B468-B2D840D8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0330E-F199-C7AB-E89D-347C3A39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44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0C1A-4E3B-A2C7-BA73-48C68D15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C8340-79CC-F814-1FB0-A5AAB2846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F9933-7A97-BE5A-6185-5689502A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A0814-6F21-D537-078F-47F37CF2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2DCE0-2DC5-E6B4-75DC-3C5740CF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C113-CF50-3501-24CC-818D19D8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853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639-8E27-58E6-6534-12792746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2E6E9-FEB0-D649-C8C5-E96B1DDB5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4B433-DA3A-F380-7E63-3C7E23DDC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5D973-E8CB-DB09-9AC0-2CECD3FF5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EA8AA-31D1-BF12-BE80-1380C2C0A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058AD-B9C7-C95A-EE14-9BE1B2AC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FFF52-026C-C723-7400-D3D9FDDD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73B93-377F-C44A-9295-2E2922D1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8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6007-CAB5-801A-CB5D-B1CE701D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2083-BCBD-A106-7A9D-E81583E7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ED8E6-044A-7162-650C-5C08F25D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877F8-83D0-224C-A9DD-5BCEBB0E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689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12DB9-83A5-8BA4-F19F-75221EAC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40EBC-7B8F-81E9-5D6D-91175944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DDC2C-2478-72A2-6900-DCD6D389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3781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E3F2-38E3-30D8-2113-EC621E46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ECDD-CF38-0826-B1E9-B6E46F238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6A8F9-0A1E-93A4-C8E5-0755AC7BE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FA824-443D-956E-C682-4CBF904C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FEF79-EB9A-3FDC-15D4-A2B4F031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BC1DD-C287-B432-7A8B-C4796380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433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33A7-C8AD-6091-627C-7836C25B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FD42D-1A04-5B66-91BA-BFC3ED860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9F470-2BA2-2B58-225B-C9B6DD21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2734F-249A-ECA1-F746-9DF8AC60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0456B-F4B5-0590-E3FA-FE1DD5CE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601A-88A0-8DB3-1B2B-5916FC75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156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1375-5E56-AB83-CC12-5D18ECDE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FBBB5-0202-1BD9-EF72-461B2AD47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C585-FA32-03D3-5D1D-FC5829F4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D811-91F7-CE65-39BE-82C41B67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1D444-70E6-B98F-CABE-965F9054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079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BCB21-1E97-BDE8-7DA0-CBA698867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9C700-EAE6-F6F2-D086-50B095C7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068E8-DF23-6D42-F224-CFD24282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EB364-FECD-EE04-4302-83ABD25A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776D-8EC0-D051-B037-2902764E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108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0A0BC-76D1-D1DF-7E2B-79B9628C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5CE74-9B10-E15A-30F1-EB71474CF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85B6-7CEF-5F34-5370-3330C092B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FA994-F2DF-48DF-AC6C-D99B8D21D338}" type="datetimeFigureOut">
              <a:rPr lang="da-DK" smtClean="0"/>
              <a:t>29-09-2022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DF5F-FDEE-CA7A-6A85-661935E52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F7D5-585B-3913-6B7B-FA7010953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276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al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69928B-080C-3855-29D6-AB8AFEEB4B19}"/>
              </a:ext>
            </a:extLst>
          </p:cNvPr>
          <p:cNvSpPr txBox="1"/>
          <p:nvPr/>
        </p:nvSpPr>
        <p:spPr>
          <a:xfrm>
            <a:off x="349513" y="613246"/>
            <a:ext cx="465772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First EUR-Lex </a:t>
            </a:r>
            <a:r>
              <a:rPr lang="da-DK" sz="1600" b="1" dirty="0" err="1"/>
              <a:t>search</a:t>
            </a:r>
            <a:r>
              <a:rPr lang="da-DK" sz="1600" b="1" dirty="0"/>
              <a:t> </a:t>
            </a:r>
            <a:r>
              <a:rPr lang="da-DK" sz="1600" b="1" dirty="0" err="1"/>
              <a:t>query</a:t>
            </a:r>
            <a:r>
              <a:rPr lang="da-DK" sz="1600" b="1" dirty="0"/>
              <a:t> ”marine </a:t>
            </a:r>
            <a:r>
              <a:rPr lang="da-DK" sz="1600" b="1" dirty="0" err="1"/>
              <a:t>protected</a:t>
            </a:r>
            <a:r>
              <a:rPr lang="da-DK" sz="1600" b="1" dirty="0"/>
              <a:t>”, </a:t>
            </a:r>
            <a:r>
              <a:rPr lang="da-DK" sz="1600" b="1" dirty="0" err="1"/>
              <a:t>exactly</a:t>
            </a:r>
            <a:r>
              <a:rPr lang="da-DK" sz="1600" b="1" dirty="0"/>
              <a:t>=TRUE</a:t>
            </a:r>
          </a:p>
          <a:p>
            <a:endParaRPr lang="da-DK" sz="12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Resulted</a:t>
            </a:r>
            <a:r>
              <a:rPr lang="da-DK" sz="1200" dirty="0">
                <a:sym typeface="Wingdings" panose="05000000000000000000" pitchFamily="2" charset="2"/>
              </a:rPr>
              <a:t> in 24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6 decisions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2 </a:t>
            </a:r>
            <a:r>
              <a:rPr lang="da-DK" sz="1200" dirty="0" err="1">
                <a:sym typeface="Wingdings" panose="05000000000000000000" pitchFamily="2" charset="2"/>
              </a:rPr>
              <a:t>directives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8 opinions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1 </a:t>
            </a:r>
            <a:r>
              <a:rPr lang="da-DK" sz="1200" dirty="0" err="1">
                <a:sym typeface="Wingdings" panose="05000000000000000000" pitchFamily="2" charset="2"/>
              </a:rPr>
              <a:t>recomendation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7 </a:t>
            </a:r>
            <a:r>
              <a:rPr lang="da-DK" sz="1200" dirty="0" err="1">
                <a:sym typeface="Wingdings" panose="05000000000000000000" pitchFamily="2" charset="2"/>
              </a:rPr>
              <a:t>regulations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19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another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There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208 </a:t>
            </a:r>
            <a:r>
              <a:rPr lang="da-DK" sz="1200" dirty="0" err="1">
                <a:sym typeface="Wingdings" panose="05000000000000000000" pitchFamily="2" charset="2"/>
              </a:rPr>
              <a:t>distinct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r>
              <a:rPr lang="da-DK" sz="1200" dirty="0">
                <a:sym typeface="Wingdings" panose="05000000000000000000" pitchFamily="2" charset="2"/>
              </a:rPr>
              <a:t> citations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b="1" dirty="0" err="1">
                <a:sym typeface="Wingdings" panose="05000000000000000000" pitchFamily="2" charset="2"/>
              </a:rPr>
              <a:t>Within</a:t>
            </a:r>
            <a:r>
              <a:rPr lang="da-DK" sz="1200" b="1" dirty="0">
                <a:sym typeface="Wingdings" panose="05000000000000000000" pitchFamily="2" charset="2"/>
              </a:rPr>
              <a:t> the </a:t>
            </a:r>
            <a:r>
              <a:rPr lang="da-DK" sz="1200" b="1" dirty="0" err="1">
                <a:sym typeface="Wingdings" panose="05000000000000000000" pitchFamily="2" charset="2"/>
              </a:rPr>
              <a:t>network</a:t>
            </a:r>
            <a:r>
              <a:rPr lang="da-DK" sz="1200" b="1" dirty="0">
                <a:sym typeface="Wingdings" panose="05000000000000000000" pitchFamily="2" charset="2"/>
              </a:rPr>
              <a:t> plot: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When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we</a:t>
            </a:r>
            <a:r>
              <a:rPr lang="da-DK" sz="1200" dirty="0">
                <a:sym typeface="Wingdings" panose="05000000000000000000" pitchFamily="2" charset="2"/>
              </a:rPr>
              <a:t> filter for citations </a:t>
            </a:r>
            <a:r>
              <a:rPr lang="da-DK" sz="1200" dirty="0" err="1">
                <a:sym typeface="Wingdings" panose="05000000000000000000" pitchFamily="2" charset="2"/>
              </a:rPr>
              <a:t>that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only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legeslation</a:t>
            </a:r>
            <a:r>
              <a:rPr lang="da-DK" sz="1200" dirty="0">
                <a:sym typeface="Wingdings" panose="05000000000000000000" pitchFamily="2" charset="2"/>
              </a:rPr>
              <a:t>…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17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legislation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134 out of the 208 citations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legislative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3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in the </a:t>
            </a:r>
            <a:r>
              <a:rPr lang="da-DK" sz="1200" dirty="0" err="1">
                <a:sym typeface="Wingdings" panose="05000000000000000000" pitchFamily="2" charset="2"/>
              </a:rPr>
              <a:t>search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results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also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cited</a:t>
            </a:r>
            <a:r>
              <a:rPr lang="da-DK" sz="1200" dirty="0">
                <a:sym typeface="Wingdings" panose="05000000000000000000" pitchFamily="2" charset="2"/>
              </a:rPr>
              <a:t> in </a:t>
            </a:r>
            <a:r>
              <a:rPr lang="da-DK" sz="1200" dirty="0" err="1">
                <a:sym typeface="Wingdings" panose="05000000000000000000" pitchFamily="2" charset="2"/>
              </a:rPr>
              <a:t>other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. </a:t>
            </a:r>
            <a:r>
              <a:rPr lang="da-DK" sz="1200" dirty="0" err="1">
                <a:sym typeface="Wingdings" panose="05000000000000000000" pitchFamily="2" charset="2"/>
              </a:rPr>
              <a:t>These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Marine </a:t>
            </a:r>
            <a:r>
              <a:rPr lang="da-DK" sz="1200" dirty="0" err="1">
                <a:sym typeface="Wingdings" panose="05000000000000000000" pitchFamily="2" charset="2"/>
              </a:rPr>
              <a:t>stratey</a:t>
            </a:r>
            <a:r>
              <a:rPr lang="da-DK" sz="1200" dirty="0">
                <a:sym typeface="Wingdings" panose="05000000000000000000" pitchFamily="2" charset="2"/>
              </a:rPr>
              <a:t> framework </a:t>
            </a:r>
            <a:r>
              <a:rPr lang="da-DK" sz="1200" dirty="0" err="1">
                <a:sym typeface="Wingdings" panose="05000000000000000000" pitchFamily="2" charset="2"/>
              </a:rPr>
              <a:t>directive</a:t>
            </a:r>
            <a:r>
              <a:rPr lang="da-DK" sz="1200" dirty="0">
                <a:sym typeface="Wingdings" panose="05000000000000000000" pitchFamily="2" charset="2"/>
              </a:rPr>
              <a:t> (32008L0056)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CFP </a:t>
            </a:r>
            <a:r>
              <a:rPr lang="da-DK" sz="1200" dirty="0" err="1">
                <a:sym typeface="Wingdings" panose="05000000000000000000" pitchFamily="2" charset="2"/>
              </a:rPr>
              <a:t>amending</a:t>
            </a:r>
            <a:r>
              <a:rPr lang="da-DK" sz="1200" dirty="0">
                <a:sym typeface="Wingdings" panose="05000000000000000000" pitchFamily="2" charset="2"/>
              </a:rPr>
              <a:t> Council </a:t>
            </a:r>
            <a:r>
              <a:rPr lang="da-DK" sz="1200" dirty="0" err="1">
                <a:sym typeface="Wingdings" panose="05000000000000000000" pitchFamily="2" charset="2"/>
              </a:rPr>
              <a:t>regulations</a:t>
            </a:r>
            <a:r>
              <a:rPr lang="da-DK" sz="1200" dirty="0">
                <a:sym typeface="Wingdings" panose="05000000000000000000" pitchFamily="2" charset="2"/>
              </a:rPr>
              <a:t> (32013R1380)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European maritime and </a:t>
            </a:r>
            <a:r>
              <a:rPr lang="da-DK" sz="1200" dirty="0" err="1">
                <a:sym typeface="Wingdings" panose="05000000000000000000" pitchFamily="2" charset="2"/>
              </a:rPr>
              <a:t>fisheries</a:t>
            </a:r>
            <a:r>
              <a:rPr lang="da-DK" sz="1200" dirty="0">
                <a:sym typeface="Wingdings" panose="05000000000000000000" pitchFamily="2" charset="2"/>
              </a:rPr>
              <a:t> fund and </a:t>
            </a:r>
            <a:r>
              <a:rPr lang="da-DK" sz="1200" dirty="0" err="1">
                <a:sym typeface="Wingdings" panose="05000000000000000000" pitchFamily="2" charset="2"/>
              </a:rPr>
              <a:t>repealing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council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regulations</a:t>
            </a:r>
            <a:r>
              <a:rPr lang="da-DK" sz="1200" dirty="0">
                <a:sym typeface="Wingdings" panose="05000000000000000000" pitchFamily="2" charset="2"/>
              </a:rPr>
              <a:t>. (32014R0508)</a:t>
            </a:r>
          </a:p>
          <a:p>
            <a:endParaRPr lang="da-DK" sz="12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 Total:</a:t>
            </a:r>
          </a:p>
          <a:p>
            <a:r>
              <a:rPr lang="da-DK" sz="1200" dirty="0">
                <a:sym typeface="Wingdings" panose="05000000000000000000" pitchFamily="2" charset="2"/>
              </a:rPr>
              <a:t>       148 </a:t>
            </a:r>
            <a:r>
              <a:rPr lang="da-DK" sz="1200" dirty="0" err="1">
                <a:sym typeface="Wingdings" panose="05000000000000000000" pitchFamily="2" charset="2"/>
              </a:rPr>
              <a:t>vertices</a:t>
            </a:r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dirty="0">
                <a:sym typeface="Wingdings" panose="05000000000000000000" pitchFamily="2" charset="2"/>
              </a:rPr>
              <a:t>       498 </a:t>
            </a:r>
            <a:r>
              <a:rPr lang="da-DK" sz="1200" dirty="0" err="1">
                <a:sym typeface="Wingdings" panose="05000000000000000000" pitchFamily="2" charset="2"/>
              </a:rPr>
              <a:t>edge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interactions</a:t>
            </a:r>
            <a:endParaRPr lang="da-DK" sz="1200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01D2914-F5CE-726C-7988-D96F0563D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239" y="-69983"/>
            <a:ext cx="6489436" cy="684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5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A2C5E-11D1-B3CB-C11E-34C8583E9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6413" y="657225"/>
            <a:ext cx="4579937" cy="381158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da-DK" sz="1700" b="1" dirty="0"/>
              <a:t>First EUR-Lex </a:t>
            </a:r>
            <a:r>
              <a:rPr lang="da-DK" sz="1700" b="1" dirty="0" err="1"/>
              <a:t>search</a:t>
            </a:r>
            <a:r>
              <a:rPr lang="da-DK" sz="1700" b="1" dirty="0"/>
              <a:t> </a:t>
            </a:r>
            <a:r>
              <a:rPr lang="da-DK" sz="1700" b="1" dirty="0" err="1"/>
              <a:t>query</a:t>
            </a:r>
            <a:r>
              <a:rPr lang="da-DK" sz="1700" b="1" dirty="0"/>
              <a:t> ”marine </a:t>
            </a:r>
            <a:r>
              <a:rPr lang="da-DK" sz="1700" b="1" dirty="0" err="1"/>
              <a:t>protected</a:t>
            </a:r>
            <a:r>
              <a:rPr lang="da-DK" sz="1700" b="1" dirty="0"/>
              <a:t>”, </a:t>
            </a:r>
            <a:r>
              <a:rPr lang="da-DK" sz="1700" b="1" dirty="0" err="1"/>
              <a:t>exactly</a:t>
            </a:r>
            <a:r>
              <a:rPr lang="da-DK" sz="1700" b="1" dirty="0"/>
              <a:t>=TRUE</a:t>
            </a:r>
          </a:p>
          <a:p>
            <a:pPr>
              <a:lnSpc>
                <a:spcPct val="100000"/>
              </a:lnSpc>
            </a:pPr>
            <a:endParaRPr lang="da-DK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a-DK" dirty="0">
                <a:sym typeface="Wingdings" panose="05000000000000000000" pitchFamily="2" charset="2"/>
              </a:rPr>
              <a:t>515 </a:t>
            </a:r>
            <a:r>
              <a:rPr lang="da-DK" dirty="0" err="1">
                <a:sym typeface="Wingdings" panose="05000000000000000000" pitchFamily="2" charset="2"/>
              </a:rPr>
              <a:t>distinct</a:t>
            </a:r>
            <a:r>
              <a:rPr lang="da-DK" dirty="0">
                <a:sym typeface="Wingdings" panose="05000000000000000000" pitchFamily="2" charset="2"/>
              </a:rPr>
              <a:t> legislative </a:t>
            </a:r>
            <a:r>
              <a:rPr lang="da-DK" dirty="0" err="1">
                <a:sym typeface="Wingdings" panose="05000000000000000000" pitchFamily="2" charset="2"/>
              </a:rPr>
              <a:t>documents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</a:t>
            </a:r>
            <a:r>
              <a:rPr lang="da-DK" dirty="0" err="1"/>
              <a:t>econd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citations´.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a-DK" dirty="0"/>
              <a:t>104 citations </a:t>
            </a:r>
            <a:r>
              <a:rPr lang="da-DK" dirty="0" err="1"/>
              <a:t>cite</a:t>
            </a:r>
            <a:r>
              <a:rPr lang="da-DK" dirty="0"/>
              <a:t> </a:t>
            </a:r>
            <a:r>
              <a:rPr lang="da-DK" dirty="0" err="1"/>
              <a:t>another</a:t>
            </a:r>
            <a:r>
              <a:rPr lang="da-DK" dirty="0"/>
              <a:t> legislative </a:t>
            </a:r>
            <a:r>
              <a:rPr lang="da-DK" dirty="0" err="1"/>
              <a:t>document</a:t>
            </a:r>
            <a:endParaRPr lang="da-DK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a-DK" dirty="0"/>
              <a:t>A new </a:t>
            </a:r>
            <a:r>
              <a:rPr lang="da-DK" dirty="0" err="1"/>
              <a:t>document</a:t>
            </a:r>
            <a:r>
              <a:rPr lang="da-DK" dirty="0"/>
              <a:t> is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added</a:t>
            </a:r>
            <a:r>
              <a:rPr lang="da-DK" dirty="0"/>
              <a:t> t the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category</a:t>
            </a:r>
            <a:r>
              <a:rPr lang="da-DK" dirty="0"/>
              <a:t>.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a-DK" dirty="0"/>
              <a:t>32013D1386 </a:t>
            </a:r>
            <a:r>
              <a:rPr lang="da-DK" dirty="0" err="1"/>
              <a:t>was</a:t>
            </a:r>
            <a:r>
              <a:rPr lang="da-DK" dirty="0"/>
              <a:t> pulled from the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result</a:t>
            </a:r>
            <a:r>
              <a:rPr lang="da-DK" dirty="0"/>
              <a:t> and is a </a:t>
            </a:r>
            <a:r>
              <a:rPr lang="da-DK" dirty="0" err="1"/>
              <a:t>second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citation  </a:t>
            </a:r>
          </a:p>
          <a:p>
            <a:pPr>
              <a:lnSpc>
                <a:spcPct val="100000"/>
              </a:lnSpc>
            </a:pPr>
            <a:endParaRPr lang="da-DK" dirty="0"/>
          </a:p>
          <a:p>
            <a:pPr>
              <a:lnSpc>
                <a:spcPct val="100000"/>
              </a:lnSpc>
            </a:pPr>
            <a:r>
              <a:rPr lang="da-DK" dirty="0"/>
              <a:t>Total: </a:t>
            </a:r>
          </a:p>
          <a:p>
            <a:pPr>
              <a:lnSpc>
                <a:spcPct val="100000"/>
              </a:lnSpc>
            </a:pPr>
            <a:r>
              <a:rPr lang="da-DK" dirty="0"/>
              <a:t>583 </a:t>
            </a:r>
            <a:r>
              <a:rPr lang="da-DK" dirty="0" err="1"/>
              <a:t>vertices</a:t>
            </a:r>
            <a:endParaRPr lang="da-DK" dirty="0"/>
          </a:p>
          <a:p>
            <a:pPr>
              <a:lnSpc>
                <a:spcPct val="100000"/>
              </a:lnSpc>
            </a:pPr>
            <a:r>
              <a:rPr lang="da-DK" dirty="0"/>
              <a:t>2466 </a:t>
            </a:r>
            <a:r>
              <a:rPr lang="da-DK" dirty="0" err="1"/>
              <a:t>edge</a:t>
            </a:r>
            <a:r>
              <a:rPr lang="da-DK" dirty="0"/>
              <a:t> </a:t>
            </a:r>
            <a:r>
              <a:rPr lang="da-DK" dirty="0" err="1"/>
              <a:t>interactions</a:t>
            </a:r>
            <a:endParaRPr lang="da-DK" dirty="0"/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EFF11456-3D5D-A6C3-05B1-170EEF092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0"/>
            <a:ext cx="7147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1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E14158-9C41-640F-913E-A949711AF12A}"/>
              </a:ext>
            </a:extLst>
          </p:cNvPr>
          <p:cNvSpPr txBox="1"/>
          <p:nvPr/>
        </p:nvSpPr>
        <p:spPr>
          <a:xfrm>
            <a:off x="342900" y="428625"/>
            <a:ext cx="5205493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First EUR-Lex </a:t>
            </a:r>
            <a:r>
              <a:rPr lang="da-DK" sz="1600" b="1" dirty="0" err="1"/>
              <a:t>search</a:t>
            </a:r>
            <a:r>
              <a:rPr lang="da-DK" sz="1600" b="1" dirty="0"/>
              <a:t> </a:t>
            </a:r>
            <a:r>
              <a:rPr lang="da-DK" sz="1600" b="1" dirty="0" err="1"/>
              <a:t>query</a:t>
            </a:r>
            <a:r>
              <a:rPr lang="da-DK" sz="1600" b="1" dirty="0"/>
              <a:t> ”marine </a:t>
            </a:r>
            <a:r>
              <a:rPr lang="da-DK" sz="1600" b="1" dirty="0" err="1"/>
              <a:t>protected</a:t>
            </a:r>
            <a:r>
              <a:rPr lang="da-DK" sz="1600" b="1" dirty="0"/>
              <a:t>”, </a:t>
            </a:r>
            <a:r>
              <a:rPr lang="da-DK" sz="1600" b="1" dirty="0" err="1"/>
              <a:t>exactly</a:t>
            </a:r>
            <a:r>
              <a:rPr lang="da-DK" sz="1600" b="1" dirty="0"/>
              <a:t>=TRUE</a:t>
            </a:r>
          </a:p>
          <a:p>
            <a:endParaRPr lang="da-DK" sz="1200" dirty="0"/>
          </a:p>
          <a:p>
            <a:endParaRPr lang="da-DK" dirty="0">
              <a:sym typeface="Wingdings" panose="05000000000000000000" pitchFamily="2" charset="2"/>
            </a:endParaRPr>
          </a:p>
          <a:p>
            <a:r>
              <a:rPr lang="da-DK" sz="1600" dirty="0">
                <a:sym typeface="Wingdings" panose="05000000000000000000" pitchFamily="2" charset="2"/>
              </a:rPr>
              <a:t>EUROVOC term labels and </a:t>
            </a:r>
            <a:r>
              <a:rPr lang="da-DK" sz="1600" dirty="0" err="1">
                <a:sym typeface="Wingdings" panose="05000000000000000000" pitchFamily="2" charset="2"/>
              </a:rPr>
              <a:t>themes</a:t>
            </a:r>
            <a:r>
              <a:rPr lang="da-DK" sz="1600" dirty="0">
                <a:sym typeface="Wingdings" panose="05000000000000000000" pitchFamily="2" charset="2"/>
              </a:rPr>
              <a:t> for the 24 </a:t>
            </a:r>
            <a:r>
              <a:rPr lang="da-DK" sz="1600" dirty="0" err="1">
                <a:sym typeface="Wingdings" panose="05000000000000000000" pitchFamily="2" charset="2"/>
              </a:rPr>
              <a:t>document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results</a:t>
            </a:r>
            <a:endParaRPr lang="da-DK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600" dirty="0">
                <a:sym typeface="Wingdings" panose="05000000000000000000" pitchFamily="2" charset="2"/>
              </a:rPr>
              <a:t>103 </a:t>
            </a:r>
            <a:r>
              <a:rPr lang="da-DK" sz="1600" dirty="0" err="1">
                <a:sym typeface="Wingdings" panose="05000000000000000000" pitchFamily="2" charset="2"/>
              </a:rPr>
              <a:t>eurovoc</a:t>
            </a:r>
            <a:r>
              <a:rPr lang="da-DK" sz="1600" dirty="0">
                <a:sym typeface="Wingdings" panose="05000000000000000000" pitchFamily="2" charset="2"/>
              </a:rPr>
              <a:t> labels </a:t>
            </a:r>
            <a:r>
              <a:rPr lang="da-DK" sz="1600" dirty="0" err="1">
                <a:sym typeface="Wingdings" panose="05000000000000000000" pitchFamily="2" charset="2"/>
              </a:rPr>
              <a:t>associated</a:t>
            </a:r>
            <a:r>
              <a:rPr lang="da-DK" sz="1600" dirty="0">
                <a:sym typeface="Wingdings" panose="05000000000000000000" pitchFamily="2" charset="2"/>
              </a:rPr>
              <a:t> to 29 </a:t>
            </a:r>
            <a:r>
              <a:rPr lang="da-DK" sz="1600" dirty="0" err="1">
                <a:sym typeface="Wingdings" panose="05000000000000000000" pitchFamily="2" charset="2"/>
              </a:rPr>
              <a:t>themes</a:t>
            </a:r>
            <a:endParaRPr lang="da-DK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a-DK" sz="1600" dirty="0">
              <a:sym typeface="Wingdings" panose="05000000000000000000" pitchFamily="2" charset="2"/>
            </a:endParaRPr>
          </a:p>
          <a:p>
            <a:pPr algn="l"/>
            <a:r>
              <a:rPr lang="da-DK" sz="1600" dirty="0">
                <a:sym typeface="Wingdings" panose="05000000000000000000" pitchFamily="2" charset="2"/>
              </a:rPr>
              <a:t>In total </a:t>
            </a:r>
            <a:r>
              <a:rPr lang="da-DK" sz="1600" dirty="0" err="1">
                <a:sym typeface="Wingdings" panose="05000000000000000000" pitchFamily="2" charset="2"/>
              </a:rPr>
              <a:t>there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are</a:t>
            </a:r>
            <a:r>
              <a:rPr lang="da-DK" sz="1600" dirty="0">
                <a:sym typeface="Wingdings" panose="05000000000000000000" pitchFamily="2" charset="2"/>
              </a:rPr>
              <a:t> 607 term </a:t>
            </a:r>
            <a:r>
              <a:rPr lang="da-DK" sz="1600" dirty="0" err="1">
                <a:sym typeface="Wingdings" panose="05000000000000000000" pitchFamily="2" charset="2"/>
              </a:rPr>
              <a:t>co-occurance</a:t>
            </a:r>
            <a:r>
              <a:rPr lang="da-DK" sz="1600" dirty="0">
                <a:sym typeface="Wingdings" panose="05000000000000000000" pitchFamily="2" charset="2"/>
              </a:rPr>
              <a:t> pairs. (</a:t>
            </a:r>
            <a:r>
              <a:rPr lang="da-DK" sz="1600" dirty="0" err="1">
                <a:sym typeface="Wingdings" panose="05000000000000000000" pitchFamily="2" charset="2"/>
              </a:rPr>
              <a:t>Nmbr</a:t>
            </a:r>
            <a:r>
              <a:rPr lang="da-DK" sz="1600" dirty="0">
                <a:sym typeface="Wingdings" panose="05000000000000000000" pitchFamily="2" charset="2"/>
              </a:rPr>
              <a:t> of times terms </a:t>
            </a:r>
            <a:r>
              <a:rPr lang="da-DK" sz="1600" dirty="0" err="1">
                <a:sym typeface="Wingdings" panose="05000000000000000000" pitchFamily="2" charset="2"/>
              </a:rPr>
              <a:t>appear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within</a:t>
            </a:r>
            <a:r>
              <a:rPr lang="da-DK" sz="1600" dirty="0">
                <a:sym typeface="Wingdings" panose="05000000000000000000" pitchFamily="2" charset="2"/>
              </a:rPr>
              <a:t> a EU </a:t>
            </a:r>
            <a:r>
              <a:rPr lang="da-DK" sz="1600" dirty="0" err="1">
                <a:sym typeface="Wingdings" panose="05000000000000000000" pitchFamily="2" charset="2"/>
              </a:rPr>
              <a:t>document</a:t>
            </a:r>
            <a:r>
              <a:rPr lang="da-DK" sz="1600" dirty="0">
                <a:sym typeface="Wingdings" panose="05000000000000000000" pitchFamily="2" charset="2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a-DK" sz="1600" dirty="0">
                <a:sym typeface="Wingdings" panose="05000000000000000000" pitchFamily="2" charset="2"/>
              </a:rPr>
              <a:t>Min </a:t>
            </a:r>
            <a:r>
              <a:rPr lang="da-DK" sz="1600" dirty="0" err="1">
                <a:sym typeface="Wingdings" panose="05000000000000000000" pitchFamily="2" charset="2"/>
              </a:rPr>
              <a:t>number</a:t>
            </a:r>
            <a:r>
              <a:rPr lang="da-DK" sz="1600" dirty="0">
                <a:sym typeface="Wingdings" panose="05000000000000000000" pitchFamily="2" charset="2"/>
              </a:rPr>
              <a:t> of </a:t>
            </a:r>
            <a:r>
              <a:rPr lang="da-DK" sz="1600" dirty="0" err="1">
                <a:sym typeface="Wingdings" panose="05000000000000000000" pitchFamily="2" charset="2"/>
              </a:rPr>
              <a:t>counts</a:t>
            </a:r>
            <a:r>
              <a:rPr lang="da-DK" sz="1600" dirty="0">
                <a:sym typeface="Wingdings" panose="05000000000000000000" pitchFamily="2" charset="2"/>
              </a:rPr>
              <a:t> is 1 and the </a:t>
            </a:r>
            <a:r>
              <a:rPr lang="da-DK" sz="1600" dirty="0" err="1">
                <a:sym typeface="Wingdings" panose="05000000000000000000" pitchFamily="2" charset="2"/>
              </a:rPr>
              <a:t>maximum</a:t>
            </a:r>
            <a:r>
              <a:rPr lang="da-DK" sz="1600" dirty="0">
                <a:sym typeface="Wingdings" panose="05000000000000000000" pitchFamily="2" charset="2"/>
              </a:rPr>
              <a:t> is 6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600" dirty="0">
              <a:sym typeface="Wingdings" panose="05000000000000000000" pitchFamily="2" charset="2"/>
            </a:endParaRPr>
          </a:p>
          <a:p>
            <a:pPr algn="l"/>
            <a:r>
              <a:rPr lang="da-DK" sz="1600" dirty="0">
                <a:sym typeface="Wingdings" panose="05000000000000000000" pitchFamily="2" charset="2"/>
              </a:rPr>
              <a:t>Total:</a:t>
            </a:r>
          </a:p>
          <a:p>
            <a:pPr algn="l"/>
            <a:r>
              <a:rPr lang="da-DK" sz="1600" dirty="0">
                <a:sym typeface="Wingdings" panose="05000000000000000000" pitchFamily="2" charset="2"/>
              </a:rPr>
              <a:t>1214 </a:t>
            </a:r>
            <a:r>
              <a:rPr lang="da-DK" sz="1600" dirty="0" err="1">
                <a:sym typeface="Wingdings" panose="05000000000000000000" pitchFamily="2" charset="2"/>
              </a:rPr>
              <a:t>edge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interactions</a:t>
            </a:r>
            <a:endParaRPr lang="da-DK" sz="1600" dirty="0">
              <a:sym typeface="Wingdings" panose="05000000000000000000" pitchFamily="2" charset="2"/>
            </a:endParaRPr>
          </a:p>
          <a:p>
            <a:pPr algn="l"/>
            <a:r>
              <a:rPr lang="da-DK" sz="1600" dirty="0">
                <a:sym typeface="Wingdings" panose="05000000000000000000" pitchFamily="2" charset="2"/>
              </a:rPr>
              <a:t>103 </a:t>
            </a:r>
            <a:r>
              <a:rPr lang="da-DK" sz="1600" dirty="0" err="1">
                <a:sym typeface="Wingdings" panose="05000000000000000000" pitchFamily="2" charset="2"/>
              </a:rPr>
              <a:t>vertices</a:t>
            </a:r>
            <a:endParaRPr lang="da-DK" sz="1600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600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600" dirty="0">
              <a:sym typeface="Wingdings" panose="05000000000000000000" pitchFamily="2" charset="2"/>
            </a:endParaRPr>
          </a:p>
          <a:p>
            <a:pPr algn="l"/>
            <a:r>
              <a:rPr lang="da-DK" sz="1600" dirty="0">
                <a:sym typeface="Wingdings" panose="05000000000000000000" pitchFamily="2" charset="2"/>
              </a:rPr>
              <a:t>The </a:t>
            </a:r>
            <a:r>
              <a:rPr lang="da-DK" sz="1600" dirty="0" err="1">
                <a:sym typeface="Wingdings" panose="05000000000000000000" pitchFamily="2" charset="2"/>
              </a:rPr>
              <a:t>only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documents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that</a:t>
            </a:r>
            <a:r>
              <a:rPr lang="da-DK" sz="1600" dirty="0">
                <a:sym typeface="Wingdings" panose="05000000000000000000" pitchFamily="2" charset="2"/>
              </a:rPr>
              <a:t> had more </a:t>
            </a:r>
            <a:r>
              <a:rPr lang="da-DK" sz="1600" dirty="0" err="1">
                <a:sym typeface="Wingdings" panose="05000000000000000000" pitchFamily="2" charset="2"/>
              </a:rPr>
              <a:t>than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one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theme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associated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were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those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that</a:t>
            </a:r>
            <a:r>
              <a:rPr lang="da-DK" sz="1600" dirty="0">
                <a:sym typeface="Wingdings" panose="05000000000000000000" pitchFamily="2" charset="2"/>
              </a:rPr>
              <a:t> have a country label. For the sake of </a:t>
            </a:r>
            <a:r>
              <a:rPr lang="da-DK" sz="1600" dirty="0" err="1">
                <a:sym typeface="Wingdings" panose="05000000000000000000" pitchFamily="2" charset="2"/>
              </a:rPr>
              <a:t>simplicity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here</a:t>
            </a:r>
            <a:r>
              <a:rPr lang="da-DK" sz="1600" dirty="0">
                <a:sym typeface="Wingdings" panose="05000000000000000000" pitchFamily="2" charset="2"/>
              </a:rPr>
              <a:t> i </a:t>
            </a:r>
            <a:r>
              <a:rPr lang="da-DK" sz="1600" dirty="0" err="1">
                <a:sym typeface="Wingdings" panose="05000000000000000000" pitchFamily="2" charset="2"/>
              </a:rPr>
              <a:t>only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kept</a:t>
            </a:r>
            <a:r>
              <a:rPr lang="da-DK" sz="1600" dirty="0">
                <a:sym typeface="Wingdings" panose="05000000000000000000" pitchFamily="2" charset="2"/>
              </a:rPr>
              <a:t> the </a:t>
            </a:r>
            <a:r>
              <a:rPr lang="da-DK" sz="1600" dirty="0" err="1">
                <a:sym typeface="Wingdings" panose="05000000000000000000" pitchFamily="2" charset="2"/>
              </a:rPr>
              <a:t>continent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theme</a:t>
            </a:r>
            <a:r>
              <a:rPr lang="da-DK" sz="1600" dirty="0">
                <a:sym typeface="Wingdings" panose="05000000000000000000" pitchFamily="2" charset="2"/>
              </a:rPr>
              <a:t> and </a:t>
            </a:r>
            <a:r>
              <a:rPr lang="da-DK" sz="1600" dirty="0" err="1">
                <a:sym typeface="Wingdings" panose="05000000000000000000" pitchFamily="2" charset="2"/>
              </a:rPr>
              <a:t>filtered</a:t>
            </a:r>
            <a:r>
              <a:rPr lang="da-DK" sz="1600" dirty="0">
                <a:sym typeface="Wingdings" panose="05000000000000000000" pitchFamily="2" charset="2"/>
              </a:rPr>
              <a:t> out the </a:t>
            </a:r>
            <a:r>
              <a:rPr lang="da-DK" sz="1600" dirty="0" err="1">
                <a:sym typeface="Wingdings" panose="05000000000000000000" pitchFamily="2" charset="2"/>
              </a:rPr>
              <a:t>other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associated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themes</a:t>
            </a:r>
            <a:r>
              <a:rPr lang="da-DK" sz="1600" dirty="0">
                <a:sym typeface="Wingdings" panose="05000000000000000000" pitchFamily="2" charset="2"/>
              </a:rPr>
              <a:t>. </a:t>
            </a:r>
          </a:p>
          <a:p>
            <a:pPr algn="l"/>
            <a:endParaRPr lang="da-DK" sz="1600" dirty="0">
              <a:sym typeface="Wingdings" panose="05000000000000000000" pitchFamily="2" charset="2"/>
            </a:endParaRPr>
          </a:p>
          <a:p>
            <a:pPr algn="l"/>
            <a:r>
              <a:rPr lang="en-US" sz="1600" dirty="0">
                <a:sym typeface="Wingdings" panose="05000000000000000000" pitchFamily="2" charset="2"/>
              </a:rPr>
              <a:t>*label size is equiv. to percent of edges associated to the word out of total edges</a:t>
            </a:r>
            <a:endParaRPr lang="da-DK" sz="1600" dirty="0">
              <a:sym typeface="Wingdings" panose="05000000000000000000" pitchFamily="2" charset="2"/>
            </a:endParaRPr>
          </a:p>
          <a:p>
            <a:pPr algn="l"/>
            <a:endParaRPr lang="da-DK" b="0" i="0" dirty="0">
              <a:effectLst/>
              <a:latin typeface="Lato" panose="020F0502020204030203" pitchFamily="34" charset="0"/>
              <a:sym typeface="Wingdings" panose="05000000000000000000" pitchFamily="2" charset="2"/>
            </a:endParaRPr>
          </a:p>
          <a:p>
            <a:br>
              <a:rPr lang="en-US" dirty="0"/>
            </a:br>
            <a:endParaRPr lang="da-DK" dirty="0">
              <a:sym typeface="Wingdings" panose="05000000000000000000" pitchFamily="2" charset="2"/>
            </a:endParaRPr>
          </a:p>
        </p:txBody>
      </p:sp>
      <p:pic>
        <p:nvPicPr>
          <p:cNvPr id="7" name="Picture 6" descr="Timeline&#10;&#10;Description automatically generated">
            <a:extLst>
              <a:ext uri="{FF2B5EF4-FFF2-40B4-BE49-F238E27FC236}">
                <a16:creationId xmlns:a16="http://schemas.microsoft.com/office/drawing/2014/main" id="{98B4D43A-07AB-FE32-B06D-3FE64B5C3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128" y="0"/>
            <a:ext cx="6501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5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4FE3C7-EC48-4FF6-6C1C-4033AF86A9D2}"/>
              </a:ext>
            </a:extLst>
          </p:cNvPr>
          <p:cNvSpPr txBox="1"/>
          <p:nvPr/>
        </p:nvSpPr>
        <p:spPr>
          <a:xfrm>
            <a:off x="342900" y="428625"/>
            <a:ext cx="520549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First EUR-Lex </a:t>
            </a:r>
            <a:r>
              <a:rPr lang="da-DK" sz="1600" b="1" dirty="0" err="1"/>
              <a:t>search</a:t>
            </a:r>
            <a:r>
              <a:rPr lang="da-DK" sz="1600" b="1" dirty="0"/>
              <a:t> </a:t>
            </a:r>
            <a:r>
              <a:rPr lang="da-DK" sz="1600" b="1" dirty="0" err="1"/>
              <a:t>query</a:t>
            </a:r>
            <a:r>
              <a:rPr lang="da-DK" sz="1600" b="1" dirty="0"/>
              <a:t> ”marine </a:t>
            </a:r>
            <a:r>
              <a:rPr lang="da-DK" sz="1600" b="1" dirty="0" err="1"/>
              <a:t>protected</a:t>
            </a:r>
            <a:r>
              <a:rPr lang="da-DK" sz="1600" b="1" dirty="0"/>
              <a:t>”, </a:t>
            </a:r>
            <a:r>
              <a:rPr lang="da-DK" sz="1600" b="1" dirty="0" err="1"/>
              <a:t>exactly</a:t>
            </a:r>
            <a:r>
              <a:rPr lang="da-DK" sz="1600" b="1" dirty="0"/>
              <a:t>=TRUE</a:t>
            </a:r>
          </a:p>
          <a:p>
            <a:endParaRPr lang="da-DK" sz="1200" dirty="0"/>
          </a:p>
          <a:p>
            <a:r>
              <a:rPr lang="da-DK" dirty="0">
                <a:sym typeface="Wingdings" panose="05000000000000000000" pitchFamily="2" charset="2"/>
              </a:rPr>
              <a:t>To </a:t>
            </a:r>
            <a:r>
              <a:rPr lang="da-DK" dirty="0" err="1">
                <a:sym typeface="Wingdings" panose="05000000000000000000" pitchFamily="2" charset="2"/>
              </a:rPr>
              <a:t>make</a:t>
            </a:r>
            <a:r>
              <a:rPr lang="da-DK" dirty="0">
                <a:sym typeface="Wingdings" panose="05000000000000000000" pitchFamily="2" charset="2"/>
              </a:rPr>
              <a:t> a </a:t>
            </a:r>
            <a:r>
              <a:rPr lang="da-DK" dirty="0" err="1">
                <a:sym typeface="Wingdings" panose="05000000000000000000" pitchFamily="2" charset="2"/>
              </a:rPr>
              <a:t>slightly</a:t>
            </a:r>
            <a:r>
              <a:rPr lang="da-DK" dirty="0">
                <a:sym typeface="Wingdings" panose="05000000000000000000" pitchFamily="2" charset="2"/>
              </a:rPr>
              <a:t> more </a:t>
            </a:r>
            <a:r>
              <a:rPr lang="da-DK" dirty="0" err="1">
                <a:sym typeface="Wingdings" panose="05000000000000000000" pitchFamily="2" charset="2"/>
              </a:rPr>
              <a:t>legable</a:t>
            </a:r>
            <a:r>
              <a:rPr lang="da-DK" dirty="0">
                <a:sym typeface="Wingdings" panose="05000000000000000000" pitchFamily="2" charset="2"/>
              </a:rPr>
              <a:t> label </a:t>
            </a:r>
            <a:r>
              <a:rPr lang="da-DK" dirty="0" err="1">
                <a:sym typeface="Wingdings" panose="05000000000000000000" pitchFamily="2" charset="2"/>
              </a:rPr>
              <a:t>network</a:t>
            </a:r>
            <a:r>
              <a:rPr lang="da-DK" dirty="0">
                <a:sym typeface="Wingdings" panose="05000000000000000000" pitchFamily="2" charset="2"/>
              </a:rPr>
              <a:t> plots</a:t>
            </a:r>
          </a:p>
          <a:p>
            <a:r>
              <a:rPr lang="da-DK" dirty="0">
                <a:sym typeface="Wingdings" panose="05000000000000000000" pitchFamily="2" charset="2"/>
              </a:rPr>
              <a:t> I have </a:t>
            </a:r>
            <a:r>
              <a:rPr lang="da-DK" dirty="0" err="1">
                <a:sym typeface="Wingdings" panose="05000000000000000000" pitchFamily="2" charset="2"/>
              </a:rPr>
              <a:t>filtered</a:t>
            </a:r>
            <a:r>
              <a:rPr lang="da-DK" dirty="0">
                <a:sym typeface="Wingdings" panose="05000000000000000000" pitchFamily="2" charset="2"/>
              </a:rPr>
              <a:t> out the </a:t>
            </a:r>
            <a:r>
              <a:rPr lang="da-DK" dirty="0" err="1">
                <a:sym typeface="Wingdings" panose="05000000000000000000" pitchFamily="2" charset="2"/>
              </a:rPr>
              <a:t>network</a:t>
            </a:r>
            <a:r>
              <a:rPr lang="da-DK" dirty="0">
                <a:sym typeface="Wingdings" panose="05000000000000000000" pitchFamily="2" charset="2"/>
              </a:rPr>
              <a:t> data to </a:t>
            </a:r>
            <a:r>
              <a:rPr lang="da-DK" dirty="0" err="1">
                <a:sym typeface="Wingdings" panose="05000000000000000000" pitchFamily="2" charset="2"/>
              </a:rPr>
              <a:t>be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only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those</a:t>
            </a:r>
            <a:r>
              <a:rPr lang="da-DK" dirty="0">
                <a:sym typeface="Wingdings" panose="05000000000000000000" pitchFamily="2" charset="2"/>
              </a:rPr>
              <a:t> labels </a:t>
            </a:r>
            <a:r>
              <a:rPr lang="da-DK" dirty="0" err="1">
                <a:sym typeface="Wingdings" panose="05000000000000000000" pitchFamily="2" charset="2"/>
              </a:rPr>
              <a:t>that</a:t>
            </a:r>
            <a:r>
              <a:rPr lang="da-DK" dirty="0">
                <a:sym typeface="Wingdings" panose="05000000000000000000" pitchFamily="2" charset="2"/>
              </a:rPr>
              <a:t> have &gt; median </a:t>
            </a:r>
            <a:r>
              <a:rPr lang="da-DK" dirty="0" err="1">
                <a:sym typeface="Wingdings" panose="05000000000000000000" pitchFamily="2" charset="2"/>
              </a:rPr>
              <a:t>edge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number</a:t>
            </a:r>
            <a:r>
              <a:rPr lang="da-DK" dirty="0">
                <a:sym typeface="Wingdings" panose="05000000000000000000" pitchFamily="2" charset="2"/>
              </a:rPr>
              <a:t> (9 </a:t>
            </a:r>
            <a:r>
              <a:rPr lang="da-DK" dirty="0" err="1">
                <a:sym typeface="Wingdings" panose="05000000000000000000" pitchFamily="2" charset="2"/>
              </a:rPr>
              <a:t>edges</a:t>
            </a:r>
            <a:r>
              <a:rPr lang="da-DK" dirty="0">
                <a:sym typeface="Wingdings" panose="05000000000000000000" pitchFamily="2" charset="2"/>
              </a:rPr>
              <a:t>).  </a:t>
            </a:r>
          </a:p>
          <a:p>
            <a:endParaRPr lang="da-DK" b="0" i="0" dirty="0">
              <a:effectLst/>
              <a:latin typeface="Lato" panose="020F0502020204030203" pitchFamily="34" charset="0"/>
              <a:sym typeface="Wingdings" panose="05000000000000000000" pitchFamily="2" charset="2"/>
            </a:endParaRPr>
          </a:p>
          <a:p>
            <a:r>
              <a:rPr lang="da-DK" dirty="0">
                <a:latin typeface="Lato" panose="020F0502020204030203" pitchFamily="34" charset="0"/>
                <a:sym typeface="Wingdings" panose="05000000000000000000" pitchFamily="2" charset="2"/>
              </a:rPr>
              <a:t>Total:</a:t>
            </a:r>
          </a:p>
          <a:p>
            <a:r>
              <a:rPr lang="da-DK" b="0" i="0" dirty="0"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738 </a:t>
            </a:r>
            <a:r>
              <a:rPr lang="da-DK" b="0" i="0" dirty="0" err="1"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edge</a:t>
            </a:r>
            <a:r>
              <a:rPr lang="da-DK" b="0" i="0" dirty="0"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da-DK" b="0" i="0" dirty="0" err="1"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interactions</a:t>
            </a:r>
            <a:endParaRPr lang="da-DK" b="0" i="0" dirty="0">
              <a:effectLst/>
              <a:latin typeface="Lato" panose="020F0502020204030203" pitchFamily="34" charset="0"/>
              <a:sym typeface="Wingdings" panose="05000000000000000000" pitchFamily="2" charset="2"/>
            </a:endParaRPr>
          </a:p>
          <a:p>
            <a:r>
              <a:rPr lang="da-DK" dirty="0">
                <a:latin typeface="Lato" panose="020F0502020204030203" pitchFamily="34" charset="0"/>
                <a:sym typeface="Wingdings" panose="05000000000000000000" pitchFamily="2" charset="2"/>
              </a:rPr>
              <a:t>54 </a:t>
            </a:r>
            <a:r>
              <a:rPr lang="da-DK" dirty="0" err="1">
                <a:latin typeface="Lato" panose="020F0502020204030203" pitchFamily="34" charset="0"/>
                <a:sym typeface="Wingdings" panose="05000000000000000000" pitchFamily="2" charset="2"/>
              </a:rPr>
              <a:t>vertices</a:t>
            </a:r>
            <a:endParaRPr lang="da-DK" b="0" i="0" dirty="0">
              <a:effectLst/>
              <a:latin typeface="Lato" panose="020F0502020204030203" pitchFamily="34" charset="0"/>
              <a:sym typeface="Wingdings" panose="05000000000000000000" pitchFamily="2" charset="2"/>
            </a:endParaRPr>
          </a:p>
          <a:p>
            <a:br>
              <a:rPr lang="en-US" dirty="0"/>
            </a:br>
            <a:endParaRPr lang="da-DK" dirty="0">
              <a:sym typeface="Wingdings" panose="05000000000000000000" pitchFamily="2" charset="2"/>
            </a:endParaRP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0646255D-D256-89E8-AA19-63BA8408C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393" y="0"/>
            <a:ext cx="6501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3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3DD500-8D42-8A4F-1536-B593AFBCEBFE}"/>
              </a:ext>
            </a:extLst>
          </p:cNvPr>
          <p:cNvSpPr txBox="1"/>
          <p:nvPr/>
        </p:nvSpPr>
        <p:spPr>
          <a:xfrm>
            <a:off x="349513" y="613246"/>
            <a:ext cx="46577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Second EUR-Lex </a:t>
            </a:r>
            <a:r>
              <a:rPr lang="da-DK" sz="1600" b="1" dirty="0" err="1"/>
              <a:t>search</a:t>
            </a:r>
            <a:r>
              <a:rPr lang="da-DK" sz="1600" b="1" dirty="0"/>
              <a:t> </a:t>
            </a:r>
            <a:r>
              <a:rPr lang="da-DK" sz="1600" b="1" dirty="0" err="1"/>
              <a:t>query</a:t>
            </a:r>
            <a:endParaRPr lang="da-DK" sz="1600" b="1" dirty="0"/>
          </a:p>
          <a:p>
            <a:endParaRPr lang="da-DK" sz="1200" dirty="0"/>
          </a:p>
          <a:p>
            <a:endParaRPr lang="da-DK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DD47C-F9D6-AB23-69D0-414521EF3EFD}"/>
              </a:ext>
            </a:extLst>
          </p:cNvPr>
          <p:cNvSpPr txBox="1"/>
          <p:nvPr/>
        </p:nvSpPr>
        <p:spPr>
          <a:xfrm>
            <a:off x="349514" y="1013355"/>
            <a:ext cx="627036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18 unique search terms with exactly = TRUE</a:t>
            </a:r>
          </a:p>
          <a:p>
            <a:r>
              <a:rPr lang="en-US" dirty="0"/>
              <a:t>"</a:t>
            </a:r>
            <a:r>
              <a:rPr lang="en-US" dirty="0" err="1"/>
              <a:t>ramsar</a:t>
            </a:r>
            <a:r>
              <a:rPr lang="en-US" dirty="0"/>
              <a:t> site*?"                                          </a:t>
            </a:r>
          </a:p>
          <a:p>
            <a:r>
              <a:rPr lang="en-US" dirty="0"/>
              <a:t>"wetland of international importance*?"                  </a:t>
            </a:r>
          </a:p>
          <a:p>
            <a:r>
              <a:rPr lang="en-US" dirty="0"/>
              <a:t>"world heritage site*?"       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unesco-mab</a:t>
            </a:r>
            <a:r>
              <a:rPr lang="en-US" dirty="0"/>
              <a:t> biosphere reserve*?"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barcelona</a:t>
            </a:r>
            <a:r>
              <a:rPr lang="en-US" dirty="0"/>
              <a:t> convention*?"                                </a:t>
            </a:r>
          </a:p>
          <a:p>
            <a:r>
              <a:rPr lang="en-US" dirty="0"/>
              <a:t>"specially protected areas of </a:t>
            </a:r>
            <a:r>
              <a:rPr lang="en-US" dirty="0" err="1"/>
              <a:t>mediterranean</a:t>
            </a:r>
            <a:r>
              <a:rPr lang="en-US" dirty="0"/>
              <a:t> importance*?"</a:t>
            </a:r>
          </a:p>
          <a:p>
            <a:r>
              <a:rPr lang="en-US" dirty="0"/>
              <a:t>"habitats directive*?"                                    </a:t>
            </a:r>
          </a:p>
          <a:p>
            <a:r>
              <a:rPr lang="en-US" dirty="0"/>
              <a:t>"sites of community importance*?"                        </a:t>
            </a:r>
          </a:p>
          <a:p>
            <a:r>
              <a:rPr lang="en-US" dirty="0"/>
              <a:t>"site of community importance*?"                        </a:t>
            </a:r>
          </a:p>
          <a:p>
            <a:r>
              <a:rPr lang="en-US" dirty="0"/>
              <a:t>"special areas of conservation*?"                        </a:t>
            </a:r>
          </a:p>
          <a:p>
            <a:r>
              <a:rPr lang="en-US" dirty="0"/>
              <a:t>"birds directive*?"                                       </a:t>
            </a:r>
          </a:p>
          <a:p>
            <a:r>
              <a:rPr lang="en-US" dirty="0"/>
              <a:t>"special protection area*?"     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helcom</a:t>
            </a:r>
            <a:r>
              <a:rPr lang="en-US" dirty="0"/>
              <a:t>*?"                      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baltic</a:t>
            </a:r>
            <a:r>
              <a:rPr lang="en-US" dirty="0"/>
              <a:t> sea protected area*?"   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ospar</a:t>
            </a:r>
            <a:r>
              <a:rPr lang="en-US" dirty="0"/>
              <a:t>*?"                                                 </a:t>
            </a:r>
          </a:p>
          <a:p>
            <a:r>
              <a:rPr lang="en-US" dirty="0"/>
              <a:t>"marine protected area*?"                                </a:t>
            </a:r>
          </a:p>
          <a:p>
            <a:r>
              <a:rPr lang="en-US" dirty="0"/>
              <a:t>"</a:t>
            </a:r>
            <a:r>
              <a:rPr lang="en-US" dirty="0" err="1"/>
              <a:t>cartagena</a:t>
            </a:r>
            <a:r>
              <a:rPr lang="en-US" dirty="0"/>
              <a:t> convention*?"                                  </a:t>
            </a:r>
          </a:p>
          <a:p>
            <a:r>
              <a:rPr lang="en-US" dirty="0"/>
              <a:t>"specially protected area*?" 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C6929-0CE5-D7F4-FC71-56FFB714D1FE}"/>
              </a:ext>
            </a:extLst>
          </p:cNvPr>
          <p:cNvSpPr txBox="1"/>
          <p:nvPr/>
        </p:nvSpPr>
        <p:spPr>
          <a:xfrm>
            <a:off x="7877175" y="870480"/>
            <a:ext cx="3965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*</a:t>
            </a:r>
            <a:r>
              <a:rPr lang="da-DK" dirty="0"/>
              <a:t>The </a:t>
            </a:r>
            <a:r>
              <a:rPr lang="da-DK" dirty="0" err="1"/>
              <a:t>search</a:t>
            </a:r>
            <a:r>
              <a:rPr lang="da-DK" dirty="0"/>
              <a:t> terms </a:t>
            </a:r>
            <a:r>
              <a:rPr lang="da-DK" dirty="0" err="1"/>
              <a:t>are</a:t>
            </a:r>
            <a:r>
              <a:rPr lang="da-DK" dirty="0"/>
              <a:t> the designation </a:t>
            </a:r>
            <a:r>
              <a:rPr lang="da-DK" dirty="0" err="1"/>
              <a:t>names</a:t>
            </a:r>
            <a:r>
              <a:rPr lang="da-DK" dirty="0"/>
              <a:t> for </a:t>
            </a:r>
            <a:r>
              <a:rPr lang="da-DK" dirty="0" err="1"/>
              <a:t>MPAs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the EU (</a:t>
            </a:r>
            <a:r>
              <a:rPr lang="da-DK" dirty="0" err="1"/>
              <a:t>including</a:t>
            </a:r>
            <a:r>
              <a:rPr lang="da-DK" dirty="0"/>
              <a:t> UK) </a:t>
            </a:r>
            <a:r>
              <a:rPr lang="da-DK" dirty="0" err="1"/>
              <a:t>which</a:t>
            </a:r>
            <a:r>
              <a:rPr lang="da-DK" dirty="0"/>
              <a:t> have a designation type </a:t>
            </a:r>
            <a:r>
              <a:rPr lang="da-DK" dirty="0" err="1"/>
              <a:t>that</a:t>
            </a:r>
            <a:r>
              <a:rPr lang="da-DK" dirty="0"/>
              <a:t> is </a:t>
            </a:r>
            <a:r>
              <a:rPr lang="da-DK" dirty="0" err="1"/>
              <a:t>defined</a:t>
            </a:r>
            <a:r>
              <a:rPr lang="da-DK" dirty="0"/>
              <a:t> as International or Regional </a:t>
            </a:r>
          </a:p>
        </p:txBody>
      </p:sp>
    </p:spTree>
    <p:extLst>
      <p:ext uri="{BB962C8B-B14F-4D97-AF65-F5344CB8AC3E}">
        <p14:creationId xmlns:p14="http://schemas.microsoft.com/office/powerpoint/2010/main" val="72255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439331-2E1F-C284-4D8F-5F2B38B5EBC2}"/>
              </a:ext>
            </a:extLst>
          </p:cNvPr>
          <p:cNvSpPr txBox="1"/>
          <p:nvPr/>
        </p:nvSpPr>
        <p:spPr>
          <a:xfrm>
            <a:off x="130768" y="958634"/>
            <a:ext cx="418938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Second EUR-Lex </a:t>
            </a:r>
            <a:r>
              <a:rPr lang="da-DK" sz="1200" b="1" dirty="0" err="1"/>
              <a:t>search</a:t>
            </a:r>
            <a:r>
              <a:rPr lang="da-DK" sz="1200" b="1" dirty="0"/>
              <a:t> </a:t>
            </a:r>
            <a:r>
              <a:rPr lang="da-DK" sz="1200" b="1" dirty="0" err="1"/>
              <a:t>query</a:t>
            </a:r>
            <a:endParaRPr lang="da-DK" sz="1200" b="1" dirty="0"/>
          </a:p>
          <a:p>
            <a:endParaRPr lang="da-DK" sz="12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Resulted</a:t>
            </a:r>
            <a:r>
              <a:rPr lang="da-DK" sz="1200" dirty="0">
                <a:sym typeface="Wingdings" panose="05000000000000000000" pitchFamily="2" charset="2"/>
              </a:rPr>
              <a:t> in 179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41 decisions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16 </a:t>
            </a:r>
            <a:r>
              <a:rPr lang="da-DK" sz="1200" dirty="0" err="1">
                <a:sym typeface="Wingdings" panose="05000000000000000000" pitchFamily="2" charset="2"/>
              </a:rPr>
              <a:t>directives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83 opinions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3 </a:t>
            </a:r>
            <a:r>
              <a:rPr lang="da-DK" sz="1200" dirty="0" err="1">
                <a:sym typeface="Wingdings" panose="05000000000000000000" pitchFamily="2" charset="2"/>
              </a:rPr>
              <a:t>recomendation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36 </a:t>
            </a:r>
            <a:r>
              <a:rPr lang="da-DK" sz="1200" dirty="0" err="1">
                <a:sym typeface="Wingdings" panose="05000000000000000000" pitchFamily="2" charset="2"/>
              </a:rPr>
              <a:t>regulations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95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another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There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515 </a:t>
            </a:r>
            <a:r>
              <a:rPr lang="da-DK" sz="1200" dirty="0" err="1">
                <a:sym typeface="Wingdings" panose="05000000000000000000" pitchFamily="2" charset="2"/>
              </a:rPr>
              <a:t>distinct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r>
              <a:rPr lang="da-DK" sz="1200" dirty="0">
                <a:sym typeface="Wingdings" panose="05000000000000000000" pitchFamily="2" charset="2"/>
              </a:rPr>
              <a:t> citations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b="1" dirty="0" err="1">
                <a:sym typeface="Wingdings" panose="05000000000000000000" pitchFamily="2" charset="2"/>
              </a:rPr>
              <a:t>Within</a:t>
            </a:r>
            <a:r>
              <a:rPr lang="da-DK" sz="1200" b="1" dirty="0">
                <a:sym typeface="Wingdings" panose="05000000000000000000" pitchFamily="2" charset="2"/>
              </a:rPr>
              <a:t> the </a:t>
            </a:r>
            <a:r>
              <a:rPr lang="da-DK" sz="1200" b="1" dirty="0" err="1">
                <a:sym typeface="Wingdings" panose="05000000000000000000" pitchFamily="2" charset="2"/>
              </a:rPr>
              <a:t>network</a:t>
            </a:r>
            <a:r>
              <a:rPr lang="da-DK" sz="1200" b="1" dirty="0">
                <a:sym typeface="Wingdings" panose="05000000000000000000" pitchFamily="2" charset="2"/>
              </a:rPr>
              <a:t> plot: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 err="1">
                <a:sym typeface="Wingdings" panose="05000000000000000000" pitchFamily="2" charset="2"/>
              </a:rPr>
              <a:t>When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we</a:t>
            </a:r>
            <a:r>
              <a:rPr lang="da-DK" sz="1200" dirty="0">
                <a:sym typeface="Wingdings" panose="05000000000000000000" pitchFamily="2" charset="2"/>
              </a:rPr>
              <a:t> filter for citations </a:t>
            </a:r>
            <a:r>
              <a:rPr lang="da-DK" sz="1200" dirty="0" err="1">
                <a:sym typeface="Wingdings" panose="05000000000000000000" pitchFamily="2" charset="2"/>
              </a:rPr>
              <a:t>that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only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legeslation</a:t>
            </a:r>
            <a:r>
              <a:rPr lang="da-DK" sz="1200" dirty="0">
                <a:sym typeface="Wingdings" panose="05000000000000000000" pitchFamily="2" charset="2"/>
              </a:rPr>
              <a:t>…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85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legislation</a:t>
            </a:r>
            <a:endParaRPr lang="da-DK" sz="1200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317 out of the 515 citations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legislative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21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in the </a:t>
            </a:r>
            <a:r>
              <a:rPr lang="da-DK" sz="1200" dirty="0" err="1">
                <a:sym typeface="Wingdings" panose="05000000000000000000" pitchFamily="2" charset="2"/>
              </a:rPr>
              <a:t>search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results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also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cited</a:t>
            </a:r>
            <a:r>
              <a:rPr lang="da-DK" sz="1200" dirty="0">
                <a:sym typeface="Wingdings" panose="05000000000000000000" pitchFamily="2" charset="2"/>
              </a:rPr>
              <a:t> in </a:t>
            </a:r>
            <a:r>
              <a:rPr lang="da-DK" sz="1200" dirty="0" err="1">
                <a:sym typeface="Wingdings" panose="05000000000000000000" pitchFamily="2" charset="2"/>
              </a:rPr>
              <a:t>other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.</a:t>
            </a:r>
            <a:r>
              <a:rPr lang="da-DK" sz="1200" b="1" dirty="0">
                <a:sym typeface="Wingdings" panose="05000000000000000000" pitchFamily="2" charset="2"/>
              </a:rPr>
              <a:t>)</a:t>
            </a:r>
          </a:p>
          <a:p>
            <a:endParaRPr lang="da-DK" sz="12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 Total:</a:t>
            </a:r>
          </a:p>
          <a:p>
            <a:r>
              <a:rPr lang="da-DK" sz="1200" dirty="0">
                <a:sym typeface="Wingdings" panose="05000000000000000000" pitchFamily="2" charset="2"/>
              </a:rPr>
              <a:t>381 </a:t>
            </a:r>
            <a:r>
              <a:rPr lang="da-DK" sz="1200" dirty="0" err="1">
                <a:sym typeface="Wingdings" panose="05000000000000000000" pitchFamily="2" charset="2"/>
              </a:rPr>
              <a:t>vertices</a:t>
            </a:r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dirty="0">
                <a:sym typeface="Wingdings" panose="05000000000000000000" pitchFamily="2" charset="2"/>
              </a:rPr>
              <a:t>1,162 </a:t>
            </a:r>
            <a:r>
              <a:rPr lang="da-DK" sz="1200" dirty="0" err="1">
                <a:sym typeface="Wingdings" panose="05000000000000000000" pitchFamily="2" charset="2"/>
              </a:rPr>
              <a:t>edge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interactions</a:t>
            </a:r>
            <a:endParaRPr lang="da-DK" sz="1200" dirty="0">
              <a:sym typeface="Wingdings" panose="05000000000000000000" pitchFamily="2" charset="2"/>
            </a:endParaRPr>
          </a:p>
          <a:p>
            <a:endParaRPr lang="da-DK" dirty="0"/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29370135-16BE-D2B6-EA00-2711845D50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61"/>
          <a:stretch/>
        </p:blipFill>
        <p:spPr>
          <a:xfrm>
            <a:off x="4421491" y="0"/>
            <a:ext cx="7762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0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16A0F9-1F74-543F-8D97-EB75A76CE5DB}"/>
              </a:ext>
            </a:extLst>
          </p:cNvPr>
          <p:cNvSpPr txBox="1"/>
          <p:nvPr/>
        </p:nvSpPr>
        <p:spPr>
          <a:xfrm>
            <a:off x="164670" y="823831"/>
            <a:ext cx="349293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 err="1"/>
              <a:t>second</a:t>
            </a:r>
            <a:r>
              <a:rPr lang="da-DK" sz="1600" b="1" dirty="0"/>
              <a:t> EUR-Lex </a:t>
            </a:r>
            <a:r>
              <a:rPr lang="da-DK" sz="1600" b="1" dirty="0" err="1"/>
              <a:t>search</a:t>
            </a:r>
            <a:r>
              <a:rPr lang="da-DK" sz="1600" b="1" dirty="0"/>
              <a:t> </a:t>
            </a:r>
            <a:r>
              <a:rPr lang="da-DK" sz="1600" b="1" dirty="0" err="1"/>
              <a:t>query</a:t>
            </a:r>
            <a:endParaRPr lang="da-DK" sz="1200" dirty="0"/>
          </a:p>
          <a:p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dirty="0">
                <a:sym typeface="Wingdings" panose="05000000000000000000" pitchFamily="2" charset="2"/>
              </a:rPr>
              <a:t>EUROVOC term labels and </a:t>
            </a:r>
            <a:r>
              <a:rPr lang="da-DK" sz="1200" dirty="0" err="1">
                <a:sym typeface="Wingdings" panose="05000000000000000000" pitchFamily="2" charset="2"/>
              </a:rPr>
              <a:t>themes</a:t>
            </a:r>
            <a:r>
              <a:rPr lang="da-DK" sz="1200" dirty="0">
                <a:sym typeface="Wingdings" panose="05000000000000000000" pitchFamily="2" charset="2"/>
              </a:rPr>
              <a:t> for the 179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results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403 </a:t>
            </a:r>
            <a:r>
              <a:rPr lang="da-DK" sz="1200" dirty="0" err="1">
                <a:sym typeface="Wingdings" panose="05000000000000000000" pitchFamily="2" charset="2"/>
              </a:rPr>
              <a:t>eurovoc</a:t>
            </a:r>
            <a:r>
              <a:rPr lang="da-DK" sz="1200" dirty="0">
                <a:sym typeface="Wingdings" panose="05000000000000000000" pitchFamily="2" charset="2"/>
              </a:rPr>
              <a:t> labels </a:t>
            </a:r>
            <a:r>
              <a:rPr lang="da-DK" sz="1200" dirty="0" err="1">
                <a:sym typeface="Wingdings" panose="05000000000000000000" pitchFamily="2" charset="2"/>
              </a:rPr>
              <a:t>associated</a:t>
            </a:r>
            <a:r>
              <a:rPr lang="da-DK" sz="1200" dirty="0">
                <a:sym typeface="Wingdings" panose="05000000000000000000" pitchFamily="2" charset="2"/>
              </a:rPr>
              <a:t> to 79 </a:t>
            </a:r>
            <a:r>
              <a:rPr lang="da-DK" sz="1200" dirty="0" err="1">
                <a:sym typeface="Wingdings" panose="05000000000000000000" pitchFamily="2" charset="2"/>
              </a:rPr>
              <a:t>themes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algn="l"/>
            <a:r>
              <a:rPr lang="da-DK" sz="1200" dirty="0">
                <a:sym typeface="Wingdings" panose="05000000000000000000" pitchFamily="2" charset="2"/>
              </a:rPr>
              <a:t>In total </a:t>
            </a:r>
            <a:r>
              <a:rPr lang="da-DK" sz="1200" dirty="0" err="1">
                <a:sym typeface="Wingdings" panose="05000000000000000000" pitchFamily="2" charset="2"/>
              </a:rPr>
              <a:t>there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are</a:t>
            </a:r>
            <a:r>
              <a:rPr lang="da-DK" sz="1200" dirty="0">
                <a:sym typeface="Wingdings" panose="05000000000000000000" pitchFamily="2" charset="2"/>
              </a:rPr>
              <a:t> 2,627 term </a:t>
            </a:r>
            <a:r>
              <a:rPr lang="da-DK" sz="1200" dirty="0" err="1">
                <a:sym typeface="Wingdings" panose="05000000000000000000" pitchFamily="2" charset="2"/>
              </a:rPr>
              <a:t>co-occurance</a:t>
            </a:r>
            <a:r>
              <a:rPr lang="da-DK" sz="1200" dirty="0">
                <a:sym typeface="Wingdings" panose="05000000000000000000" pitchFamily="2" charset="2"/>
              </a:rPr>
              <a:t> pairs. (</a:t>
            </a:r>
            <a:r>
              <a:rPr lang="da-DK" sz="1200" dirty="0" err="1">
                <a:sym typeface="Wingdings" panose="05000000000000000000" pitchFamily="2" charset="2"/>
              </a:rPr>
              <a:t>Nmbr</a:t>
            </a:r>
            <a:r>
              <a:rPr lang="da-DK" sz="1200" dirty="0">
                <a:sym typeface="Wingdings" panose="05000000000000000000" pitchFamily="2" charset="2"/>
              </a:rPr>
              <a:t> of times terms </a:t>
            </a:r>
            <a:r>
              <a:rPr lang="da-DK" sz="1200" dirty="0" err="1">
                <a:sym typeface="Wingdings" panose="05000000000000000000" pitchFamily="2" charset="2"/>
              </a:rPr>
              <a:t>appear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within</a:t>
            </a:r>
            <a:r>
              <a:rPr lang="da-DK" sz="1200" dirty="0">
                <a:sym typeface="Wingdings" panose="05000000000000000000" pitchFamily="2" charset="2"/>
              </a:rPr>
              <a:t> a EU </a:t>
            </a:r>
            <a:r>
              <a:rPr lang="da-DK" sz="1200" dirty="0" err="1">
                <a:sym typeface="Wingdings" panose="05000000000000000000" pitchFamily="2" charset="2"/>
              </a:rPr>
              <a:t>document</a:t>
            </a:r>
            <a:r>
              <a:rPr lang="da-DK" sz="1200" dirty="0">
                <a:sym typeface="Wingdings" panose="05000000000000000000" pitchFamily="2" charset="2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a-DK" sz="1200" dirty="0">
                <a:sym typeface="Wingdings" panose="05000000000000000000" pitchFamily="2" charset="2"/>
              </a:rPr>
              <a:t>Min </a:t>
            </a:r>
            <a:r>
              <a:rPr lang="da-DK" sz="1200" dirty="0" err="1">
                <a:sym typeface="Wingdings" panose="05000000000000000000" pitchFamily="2" charset="2"/>
              </a:rPr>
              <a:t>number</a:t>
            </a:r>
            <a:r>
              <a:rPr lang="da-DK" sz="1200" dirty="0">
                <a:sym typeface="Wingdings" panose="05000000000000000000" pitchFamily="2" charset="2"/>
              </a:rPr>
              <a:t> of </a:t>
            </a:r>
            <a:r>
              <a:rPr lang="da-DK" sz="1200" dirty="0" err="1">
                <a:sym typeface="Wingdings" panose="05000000000000000000" pitchFamily="2" charset="2"/>
              </a:rPr>
              <a:t>counts</a:t>
            </a:r>
            <a:r>
              <a:rPr lang="da-DK" sz="1200" dirty="0">
                <a:sym typeface="Wingdings" panose="05000000000000000000" pitchFamily="2" charset="2"/>
              </a:rPr>
              <a:t> is 1 and the </a:t>
            </a:r>
            <a:r>
              <a:rPr lang="da-DK" sz="1200" dirty="0" err="1">
                <a:sym typeface="Wingdings" panose="05000000000000000000" pitchFamily="2" charset="2"/>
              </a:rPr>
              <a:t>maximum</a:t>
            </a:r>
            <a:r>
              <a:rPr lang="da-DK" sz="1200" dirty="0">
                <a:sym typeface="Wingdings" panose="05000000000000000000" pitchFamily="2" charset="2"/>
              </a:rPr>
              <a:t> is 20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r>
              <a:rPr lang="da-DK" sz="1200" dirty="0">
                <a:sym typeface="Wingdings" panose="05000000000000000000" pitchFamily="2" charset="2"/>
              </a:rPr>
              <a:t>To </a:t>
            </a:r>
            <a:r>
              <a:rPr lang="da-DK" sz="1200" dirty="0" err="1">
                <a:sym typeface="Wingdings" panose="05000000000000000000" pitchFamily="2" charset="2"/>
              </a:rPr>
              <a:t>make</a:t>
            </a:r>
            <a:r>
              <a:rPr lang="da-DK" sz="1200" dirty="0">
                <a:sym typeface="Wingdings" panose="05000000000000000000" pitchFamily="2" charset="2"/>
              </a:rPr>
              <a:t> a </a:t>
            </a:r>
            <a:r>
              <a:rPr lang="da-DK" sz="1200" dirty="0" err="1">
                <a:sym typeface="Wingdings" panose="05000000000000000000" pitchFamily="2" charset="2"/>
              </a:rPr>
              <a:t>slightly</a:t>
            </a:r>
            <a:r>
              <a:rPr lang="da-DK" sz="1200" dirty="0">
                <a:sym typeface="Wingdings" panose="05000000000000000000" pitchFamily="2" charset="2"/>
              </a:rPr>
              <a:t> more </a:t>
            </a:r>
            <a:r>
              <a:rPr lang="da-DK" sz="1200" dirty="0" err="1">
                <a:sym typeface="Wingdings" panose="05000000000000000000" pitchFamily="2" charset="2"/>
              </a:rPr>
              <a:t>legable</a:t>
            </a:r>
            <a:r>
              <a:rPr lang="da-DK" sz="1200" dirty="0">
                <a:sym typeface="Wingdings" panose="05000000000000000000" pitchFamily="2" charset="2"/>
              </a:rPr>
              <a:t> label </a:t>
            </a:r>
            <a:r>
              <a:rPr lang="da-DK" sz="1200" dirty="0" err="1">
                <a:sym typeface="Wingdings" panose="05000000000000000000" pitchFamily="2" charset="2"/>
              </a:rPr>
              <a:t>network</a:t>
            </a:r>
            <a:r>
              <a:rPr lang="da-DK" sz="1200" dirty="0">
                <a:sym typeface="Wingdings" panose="05000000000000000000" pitchFamily="2" charset="2"/>
              </a:rPr>
              <a:t> plots</a:t>
            </a:r>
          </a:p>
          <a:p>
            <a:r>
              <a:rPr lang="da-DK" sz="1200" dirty="0">
                <a:sym typeface="Wingdings" panose="05000000000000000000" pitchFamily="2" charset="2"/>
              </a:rPr>
              <a:t> I have </a:t>
            </a:r>
            <a:r>
              <a:rPr lang="da-DK" sz="1200" dirty="0" err="1">
                <a:sym typeface="Wingdings" panose="05000000000000000000" pitchFamily="2" charset="2"/>
              </a:rPr>
              <a:t>filtered</a:t>
            </a:r>
            <a:r>
              <a:rPr lang="da-DK" sz="1200" dirty="0">
                <a:sym typeface="Wingdings" panose="05000000000000000000" pitchFamily="2" charset="2"/>
              </a:rPr>
              <a:t> out the </a:t>
            </a:r>
            <a:r>
              <a:rPr lang="da-DK" sz="1200" dirty="0" err="1">
                <a:sym typeface="Wingdings" panose="05000000000000000000" pitchFamily="2" charset="2"/>
              </a:rPr>
              <a:t>network</a:t>
            </a:r>
            <a:r>
              <a:rPr lang="da-DK" sz="1200" dirty="0">
                <a:sym typeface="Wingdings" panose="05000000000000000000" pitchFamily="2" charset="2"/>
              </a:rPr>
              <a:t> data to </a:t>
            </a:r>
            <a:r>
              <a:rPr lang="da-DK" sz="1200" dirty="0" err="1">
                <a:sym typeface="Wingdings" panose="05000000000000000000" pitchFamily="2" charset="2"/>
              </a:rPr>
              <a:t>be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only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those</a:t>
            </a:r>
            <a:r>
              <a:rPr lang="da-DK" sz="1200" dirty="0">
                <a:sym typeface="Wingdings" panose="05000000000000000000" pitchFamily="2" charset="2"/>
              </a:rPr>
              <a:t> labels </a:t>
            </a:r>
            <a:r>
              <a:rPr lang="da-DK" sz="1200" dirty="0" err="1">
                <a:sym typeface="Wingdings" panose="05000000000000000000" pitchFamily="2" charset="2"/>
              </a:rPr>
              <a:t>that</a:t>
            </a:r>
            <a:r>
              <a:rPr lang="da-DK" sz="1200" dirty="0">
                <a:sym typeface="Wingdings" panose="05000000000000000000" pitchFamily="2" charset="2"/>
              </a:rPr>
              <a:t> have &gt; median </a:t>
            </a:r>
            <a:r>
              <a:rPr lang="da-DK" sz="1200" dirty="0" err="1">
                <a:sym typeface="Wingdings" panose="05000000000000000000" pitchFamily="2" charset="2"/>
              </a:rPr>
              <a:t>edge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number</a:t>
            </a:r>
            <a:r>
              <a:rPr lang="da-DK" sz="1200" dirty="0">
                <a:sym typeface="Wingdings" panose="05000000000000000000" pitchFamily="2" charset="2"/>
              </a:rPr>
              <a:t> (9 </a:t>
            </a:r>
            <a:r>
              <a:rPr lang="da-DK" sz="1200" dirty="0" err="1">
                <a:sym typeface="Wingdings" panose="05000000000000000000" pitchFamily="2" charset="2"/>
              </a:rPr>
              <a:t>edges</a:t>
            </a:r>
            <a:r>
              <a:rPr lang="da-DK" sz="1200" dirty="0">
                <a:sym typeface="Wingdings" panose="05000000000000000000" pitchFamily="2" charset="2"/>
              </a:rPr>
              <a:t>).  </a:t>
            </a:r>
          </a:p>
          <a:p>
            <a:pPr algn="l"/>
            <a:endParaRPr lang="da-DK" sz="1200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algn="l"/>
            <a:r>
              <a:rPr lang="da-DK" sz="1200" dirty="0">
                <a:sym typeface="Wingdings" panose="05000000000000000000" pitchFamily="2" charset="2"/>
              </a:rPr>
              <a:t>Total:</a:t>
            </a:r>
          </a:p>
          <a:p>
            <a:pPr algn="l"/>
            <a:r>
              <a:rPr lang="da-DK" sz="1200" dirty="0">
                <a:sym typeface="Wingdings" panose="05000000000000000000" pitchFamily="2" charset="2"/>
              </a:rPr>
              <a:t>3,614 </a:t>
            </a:r>
            <a:r>
              <a:rPr lang="da-DK" sz="1200" dirty="0" err="1">
                <a:sym typeface="Wingdings" panose="05000000000000000000" pitchFamily="2" charset="2"/>
              </a:rPr>
              <a:t>edge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interactions</a:t>
            </a:r>
            <a:endParaRPr lang="da-DK" sz="1200" dirty="0">
              <a:sym typeface="Wingdings" panose="05000000000000000000" pitchFamily="2" charset="2"/>
            </a:endParaRPr>
          </a:p>
          <a:p>
            <a:pPr algn="l"/>
            <a:r>
              <a:rPr lang="da-DK" sz="1200" dirty="0">
                <a:sym typeface="Wingdings" panose="05000000000000000000" pitchFamily="2" charset="2"/>
              </a:rPr>
              <a:t>226 </a:t>
            </a:r>
            <a:r>
              <a:rPr lang="da-DK" sz="1200" dirty="0" err="1">
                <a:sym typeface="Wingdings" panose="05000000000000000000" pitchFamily="2" charset="2"/>
              </a:rPr>
              <a:t>vertices</a:t>
            </a:r>
            <a:endParaRPr lang="da-DK" sz="1200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da-DK" sz="1200" dirty="0">
              <a:sym typeface="Wingdings" panose="05000000000000000000" pitchFamily="2" charset="2"/>
            </a:endParaRPr>
          </a:p>
          <a:p>
            <a:pPr algn="l"/>
            <a:r>
              <a:rPr lang="da-DK" sz="1200" dirty="0">
                <a:sym typeface="Wingdings" panose="05000000000000000000" pitchFamily="2" charset="2"/>
              </a:rPr>
              <a:t>The </a:t>
            </a:r>
            <a:r>
              <a:rPr lang="da-DK" sz="1200" dirty="0" err="1">
                <a:sym typeface="Wingdings" panose="05000000000000000000" pitchFamily="2" charset="2"/>
              </a:rPr>
              <a:t>only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documents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that</a:t>
            </a:r>
            <a:r>
              <a:rPr lang="da-DK" sz="1200" dirty="0">
                <a:sym typeface="Wingdings" panose="05000000000000000000" pitchFamily="2" charset="2"/>
              </a:rPr>
              <a:t> had more </a:t>
            </a:r>
            <a:r>
              <a:rPr lang="da-DK" sz="1200" dirty="0" err="1">
                <a:sym typeface="Wingdings" panose="05000000000000000000" pitchFamily="2" charset="2"/>
              </a:rPr>
              <a:t>than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one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theme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associated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were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those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that</a:t>
            </a:r>
            <a:r>
              <a:rPr lang="da-DK" sz="1200" dirty="0">
                <a:sym typeface="Wingdings" panose="05000000000000000000" pitchFamily="2" charset="2"/>
              </a:rPr>
              <a:t> have a country label. For the sake of </a:t>
            </a:r>
            <a:r>
              <a:rPr lang="da-DK" sz="1200" dirty="0" err="1">
                <a:sym typeface="Wingdings" panose="05000000000000000000" pitchFamily="2" charset="2"/>
              </a:rPr>
              <a:t>simplicity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here</a:t>
            </a:r>
            <a:r>
              <a:rPr lang="da-DK" sz="1200" dirty="0">
                <a:sym typeface="Wingdings" panose="05000000000000000000" pitchFamily="2" charset="2"/>
              </a:rPr>
              <a:t> i </a:t>
            </a:r>
            <a:r>
              <a:rPr lang="da-DK" sz="1200" dirty="0" err="1">
                <a:sym typeface="Wingdings" panose="05000000000000000000" pitchFamily="2" charset="2"/>
              </a:rPr>
              <a:t>only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kept</a:t>
            </a:r>
            <a:r>
              <a:rPr lang="da-DK" sz="1200" dirty="0">
                <a:sym typeface="Wingdings" panose="05000000000000000000" pitchFamily="2" charset="2"/>
              </a:rPr>
              <a:t> the </a:t>
            </a:r>
            <a:r>
              <a:rPr lang="da-DK" sz="1200" dirty="0" err="1">
                <a:sym typeface="Wingdings" panose="05000000000000000000" pitchFamily="2" charset="2"/>
              </a:rPr>
              <a:t>continent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theme</a:t>
            </a:r>
            <a:r>
              <a:rPr lang="da-DK" sz="1200" dirty="0">
                <a:sym typeface="Wingdings" panose="05000000000000000000" pitchFamily="2" charset="2"/>
              </a:rPr>
              <a:t> and </a:t>
            </a:r>
            <a:r>
              <a:rPr lang="da-DK" sz="1200" dirty="0" err="1">
                <a:sym typeface="Wingdings" panose="05000000000000000000" pitchFamily="2" charset="2"/>
              </a:rPr>
              <a:t>filtered</a:t>
            </a:r>
            <a:r>
              <a:rPr lang="da-DK" sz="1200" dirty="0">
                <a:sym typeface="Wingdings" panose="05000000000000000000" pitchFamily="2" charset="2"/>
              </a:rPr>
              <a:t> out the </a:t>
            </a:r>
            <a:r>
              <a:rPr lang="da-DK" sz="1200" dirty="0" err="1">
                <a:sym typeface="Wingdings" panose="05000000000000000000" pitchFamily="2" charset="2"/>
              </a:rPr>
              <a:t>other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associated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themes</a:t>
            </a:r>
            <a:r>
              <a:rPr lang="da-DK" sz="1200" dirty="0">
                <a:sym typeface="Wingdings" panose="05000000000000000000" pitchFamily="2" charset="2"/>
              </a:rPr>
              <a:t>. </a:t>
            </a:r>
          </a:p>
          <a:p>
            <a:pPr algn="l"/>
            <a:endParaRPr lang="da-DK" b="0" i="0" dirty="0">
              <a:effectLst/>
              <a:latin typeface="Lato" panose="020F0502020204030203" pitchFamily="34" charset="0"/>
              <a:sym typeface="Wingdings" panose="05000000000000000000" pitchFamily="2" charset="2"/>
            </a:endParaRPr>
          </a:p>
          <a:p>
            <a:br>
              <a:rPr lang="en-US" dirty="0"/>
            </a:br>
            <a:endParaRPr lang="da-DK" dirty="0">
              <a:sym typeface="Wingdings" panose="05000000000000000000" pitchFamily="2" charset="2"/>
            </a:endParaRP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B1751CBE-3C60-E267-B40E-CCAFC53FD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7" r="3536"/>
          <a:stretch/>
        </p:blipFill>
        <p:spPr>
          <a:xfrm>
            <a:off x="3599480" y="0"/>
            <a:ext cx="8539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4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B07304-B6AC-47B8-CA58-4A667E6847DC}"/>
              </a:ext>
            </a:extLst>
          </p:cNvPr>
          <p:cNvSpPr txBox="1"/>
          <p:nvPr/>
        </p:nvSpPr>
        <p:spPr>
          <a:xfrm>
            <a:off x="300245" y="661366"/>
            <a:ext cx="116465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/>
              <a:t>Moving</a:t>
            </a:r>
            <a:r>
              <a:rPr lang="da-DK" b="1" dirty="0"/>
              <a:t> forwards </a:t>
            </a:r>
            <a:r>
              <a:rPr lang="da-DK" b="1" dirty="0" err="1"/>
              <a:t>what</a:t>
            </a:r>
            <a:r>
              <a:rPr lang="da-DK" b="1" dirty="0"/>
              <a:t> kind of </a:t>
            </a:r>
            <a:r>
              <a:rPr lang="da-DK" b="1" dirty="0" err="1"/>
              <a:t>analysis</a:t>
            </a:r>
            <a:r>
              <a:rPr lang="da-DK" b="1" dirty="0"/>
              <a:t> </a:t>
            </a:r>
            <a:r>
              <a:rPr lang="da-DK" b="1" dirty="0" err="1"/>
              <a:t>should</a:t>
            </a:r>
            <a:r>
              <a:rPr lang="da-DK" b="1" dirty="0"/>
              <a:t> I </a:t>
            </a:r>
            <a:r>
              <a:rPr lang="da-DK" b="1" dirty="0" err="1"/>
              <a:t>preform</a:t>
            </a:r>
            <a:r>
              <a:rPr lang="da-DK" b="1" dirty="0"/>
              <a:t>?</a:t>
            </a:r>
          </a:p>
          <a:p>
            <a:endParaRPr lang="da-DK" b="1" dirty="0"/>
          </a:p>
          <a:p>
            <a:r>
              <a:rPr lang="da-DK" b="1" dirty="0"/>
              <a:t>NETWORKS: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dirty="0">
                <a:sym typeface="Wingdings" panose="05000000000000000000" pitchFamily="2" charset="2"/>
              </a:rPr>
              <a:t>Same </a:t>
            </a:r>
            <a:r>
              <a:rPr lang="da-DK" dirty="0" err="1">
                <a:sym typeface="Wingdings" panose="05000000000000000000" pitchFamily="2" charset="2"/>
              </a:rPr>
              <a:t>ones</a:t>
            </a:r>
            <a:r>
              <a:rPr lang="da-DK" dirty="0">
                <a:sym typeface="Wingdings" panose="05000000000000000000" pitchFamily="2" charset="2"/>
              </a:rPr>
              <a:t> as I did in </a:t>
            </a:r>
            <a:r>
              <a:rPr lang="da-DK" dirty="0" err="1">
                <a:sym typeface="Wingdings" panose="05000000000000000000" pitchFamily="2" charset="2"/>
              </a:rPr>
              <a:t>thesis</a:t>
            </a:r>
            <a:r>
              <a:rPr lang="da-DK" dirty="0">
                <a:sym typeface="Wingdings" panose="05000000000000000000" pitchFamily="2" charset="2"/>
              </a:rPr>
              <a:t>?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a-DK" dirty="0">
                <a:sym typeface="Wingdings" panose="05000000000000000000" pitchFamily="2" charset="2"/>
              </a:rPr>
              <a:t>Is </a:t>
            </a:r>
            <a:r>
              <a:rPr lang="da-DK" dirty="0" err="1">
                <a:sym typeface="Wingdings" panose="05000000000000000000" pitchFamily="2" charset="2"/>
              </a:rPr>
              <a:t>this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technically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bipartite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since</a:t>
            </a:r>
            <a:r>
              <a:rPr lang="da-DK" dirty="0">
                <a:sym typeface="Wingdings" panose="05000000000000000000" pitchFamily="2" charset="2"/>
              </a:rPr>
              <a:t> a </a:t>
            </a:r>
            <a:r>
              <a:rPr lang="da-DK" dirty="0" err="1">
                <a:sym typeface="Wingdings" panose="05000000000000000000" pitchFamily="2" charset="2"/>
              </a:rPr>
              <a:t>result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document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also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be</a:t>
            </a:r>
            <a:r>
              <a:rPr lang="da-DK" dirty="0">
                <a:sym typeface="Wingdings" panose="05000000000000000000" pitchFamily="2" charset="2"/>
              </a:rPr>
              <a:t> a citation </a:t>
            </a:r>
          </a:p>
          <a:p>
            <a:pPr marL="1200150" lvl="2" indent="-285750">
              <a:buFont typeface="Wingdings" panose="05000000000000000000" pitchFamily="2" charset="2"/>
              <a:buChar char="à"/>
            </a:pPr>
            <a:r>
              <a:rPr lang="da-DK" dirty="0">
                <a:sym typeface="Wingdings" panose="05000000000000000000" pitchFamily="2" charset="2"/>
              </a:rPr>
              <a:t>In addition </a:t>
            </a:r>
            <a:r>
              <a:rPr lang="da-DK" dirty="0" err="1">
                <a:sym typeface="Wingdings" panose="05000000000000000000" pitchFamily="2" charset="2"/>
              </a:rPr>
              <a:t>now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have </a:t>
            </a:r>
            <a:r>
              <a:rPr lang="da-DK" dirty="0" err="1">
                <a:sym typeface="Wingdings" panose="05000000000000000000" pitchFamily="2" charset="2"/>
              </a:rPr>
              <a:t>three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levels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result</a:t>
            </a:r>
            <a:r>
              <a:rPr lang="da-DK" dirty="0">
                <a:sym typeface="Wingdings" panose="05000000000000000000" pitchFamily="2" charset="2"/>
              </a:rPr>
              <a:t> doc, 1st </a:t>
            </a:r>
            <a:r>
              <a:rPr lang="da-DK" dirty="0" err="1">
                <a:sym typeface="Wingdings" panose="05000000000000000000" pitchFamily="2" charset="2"/>
              </a:rPr>
              <a:t>order</a:t>
            </a:r>
            <a:r>
              <a:rPr lang="da-DK" dirty="0">
                <a:sym typeface="Wingdings" panose="05000000000000000000" pitchFamily="2" charset="2"/>
              </a:rPr>
              <a:t> citation and </a:t>
            </a:r>
            <a:r>
              <a:rPr lang="da-DK" dirty="0" err="1">
                <a:sym typeface="Wingdings" panose="05000000000000000000" pitchFamily="2" charset="2"/>
              </a:rPr>
              <a:t>second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order</a:t>
            </a:r>
            <a:r>
              <a:rPr lang="da-DK" dirty="0">
                <a:sym typeface="Wingdings" panose="05000000000000000000" pitchFamily="2" charset="2"/>
              </a:rPr>
              <a:t> citation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a-DK" dirty="0">
                <a:sym typeface="Wingdings" panose="05000000000000000000" pitchFamily="2" charset="2"/>
              </a:rPr>
              <a:t>A </a:t>
            </a:r>
            <a:r>
              <a:rPr lang="da-DK" dirty="0" err="1">
                <a:sym typeface="Wingdings" panose="05000000000000000000" pitchFamily="2" charset="2"/>
              </a:rPr>
              <a:t>particular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analysis</a:t>
            </a:r>
            <a:r>
              <a:rPr lang="da-DK" dirty="0">
                <a:sym typeface="Wingdings" panose="05000000000000000000" pitchFamily="2" charset="2"/>
              </a:rPr>
              <a:t> for the term </a:t>
            </a:r>
            <a:r>
              <a:rPr lang="da-DK" dirty="0" err="1">
                <a:sym typeface="Wingdings" panose="05000000000000000000" pitchFamily="2" charset="2"/>
              </a:rPr>
              <a:t>ococcurances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network</a:t>
            </a:r>
            <a:r>
              <a:rPr lang="da-DK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a-DK" dirty="0">
              <a:sym typeface="Wingdings" panose="05000000000000000000" pitchFamily="2" charset="2"/>
            </a:endParaRPr>
          </a:p>
          <a:p>
            <a:r>
              <a:rPr lang="da-DK" b="1" dirty="0">
                <a:sym typeface="Wingdings" panose="05000000000000000000" pitchFamily="2" charset="2"/>
              </a:rPr>
              <a:t>TEXT DATA:</a:t>
            </a:r>
          </a:p>
          <a:p>
            <a:r>
              <a:rPr lang="da-DK" dirty="0">
                <a:sym typeface="Wingdings" panose="05000000000000000000" pitchFamily="2" charset="2"/>
              </a:rPr>
              <a:t>??</a:t>
            </a:r>
          </a:p>
        </p:txBody>
      </p:sp>
    </p:spTree>
    <p:extLst>
      <p:ext uri="{BB962C8B-B14F-4D97-AF65-F5344CB8AC3E}">
        <p14:creationId xmlns:p14="http://schemas.microsoft.com/office/powerpoint/2010/main" val="146150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752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Elizabeth Jorgensen</dc:creator>
  <cp:lastModifiedBy>Anna Elizabeth Jorgensen</cp:lastModifiedBy>
  <cp:revision>7</cp:revision>
  <dcterms:created xsi:type="dcterms:W3CDTF">2022-09-29T07:12:58Z</dcterms:created>
  <dcterms:modified xsi:type="dcterms:W3CDTF">2022-09-29T14:42:08Z</dcterms:modified>
</cp:coreProperties>
</file>